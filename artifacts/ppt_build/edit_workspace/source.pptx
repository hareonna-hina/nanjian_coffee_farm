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c3752ff57d4e29" /><Relationship Type="http://schemas.openxmlformats.org/officeDocument/2006/relationships/extended-properties" Target="/docProps/app.xml" Id="Re4ad3e1e89704654" /><Relationship Type="http://schemas.openxmlformats.org/officeDocument/2006/relationships/officeDocument" Target="/ppt/presentation.xml" Id="Re48bb69fd34d45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cc696968334875"/>
  </p:sldMasterIdLst>
  <p:notesMasterIdLst>
    <p:notesMasterId xmlns:r="http://schemas.openxmlformats.org/officeDocument/2006/relationships" r:id="R368fdcfc58c7474b"/>
  </p:notesMasterIdLst>
  <p:sldIdLst>
    <p:sldId xmlns:r="http://schemas.openxmlformats.org/officeDocument/2006/relationships" id="256" r:id="R5972ffe6c51e447b"/>
    <p:sldId xmlns:r="http://schemas.openxmlformats.org/officeDocument/2006/relationships" id="257" r:id="R825df95700e341c5"/>
    <p:sldId xmlns:r="http://schemas.openxmlformats.org/officeDocument/2006/relationships" id="258" r:id="Rcfe88e56971d4750"/>
    <p:sldId xmlns:r="http://schemas.openxmlformats.org/officeDocument/2006/relationships" id="259" r:id="Rd2d6a0ff836845ef"/>
    <p:sldId xmlns:r="http://schemas.openxmlformats.org/officeDocument/2006/relationships" id="260" r:id="R636b53efac81495b"/>
    <p:sldId xmlns:r="http://schemas.openxmlformats.org/officeDocument/2006/relationships" id="261" r:id="R5cf386889b9e42fe"/>
    <p:sldId xmlns:r="http://schemas.openxmlformats.org/officeDocument/2006/relationships" id="262" r:id="R431cc185d22e444e"/>
    <p:sldId xmlns:r="http://schemas.openxmlformats.org/officeDocument/2006/relationships" id="263" r:id="Rbb412ff21f084da1"/>
    <p:sldId xmlns:r="http://schemas.openxmlformats.org/officeDocument/2006/relationships" id="264" r:id="Rf1af46b502b14b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39b37204dc457c" /><Relationship Type="http://schemas.openxmlformats.org/officeDocument/2006/relationships/slideMaster" Target="/ppt/slideMasters/slideMaster1.xml" Id="R8ccc696968334875" /><Relationship Type="http://schemas.openxmlformats.org/officeDocument/2006/relationships/notesMaster" Target="/ppt/notesMasters/notesMaster1.xml" Id="R368fdcfc58c7474b" /><Relationship Type="http://schemas.openxmlformats.org/officeDocument/2006/relationships/presProps" Target="/ppt/presProps.xml" Id="R12fbf4ace9b345f3" /><Relationship Type="http://schemas.openxmlformats.org/officeDocument/2006/relationships/tableStyles" Target="/ppt/tableStyles.xml" Id="Rdfefb778080d45d5" /><Relationship Type="http://schemas.openxmlformats.org/officeDocument/2006/relationships/slide" Target="/ppt/slides/slide1.xml" Id="R5972ffe6c51e447b" /><Relationship Type="http://schemas.openxmlformats.org/officeDocument/2006/relationships/slide" Target="/ppt/slides/slide2.xml" Id="R825df95700e341c5" /><Relationship Type="http://schemas.openxmlformats.org/officeDocument/2006/relationships/slide" Target="/ppt/slides/slide3.xml" Id="Rcfe88e56971d4750" /><Relationship Type="http://schemas.openxmlformats.org/officeDocument/2006/relationships/slide" Target="/ppt/slides/slide4.xml" Id="Rd2d6a0ff836845ef" /><Relationship Type="http://schemas.openxmlformats.org/officeDocument/2006/relationships/slide" Target="/ppt/slides/slide5.xml" Id="R636b53efac81495b" /><Relationship Type="http://schemas.openxmlformats.org/officeDocument/2006/relationships/slide" Target="/ppt/slides/slide6.xml" Id="R5cf386889b9e42fe" /><Relationship Type="http://schemas.openxmlformats.org/officeDocument/2006/relationships/slide" Target="/ppt/slides/slide7.xml" Id="R431cc185d22e444e" /><Relationship Type="http://schemas.openxmlformats.org/officeDocument/2006/relationships/slide" Target="/ppt/slides/slide8.xml" Id="Rbb412ff21f084da1" /><Relationship Type="http://schemas.openxmlformats.org/officeDocument/2006/relationships/slide" Target="/ppt/slides/slide9.xml" Id="Rf1af46b502b14b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25441e7c1d42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33b856b7b04066" /><Relationship Type="http://schemas.openxmlformats.org/officeDocument/2006/relationships/notesMaster" Target="/ppt/notesMasters/notesMaster1.xml" Id="Rc789c7dd013342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6b72e6350848f6" /><Relationship Type="http://schemas.openxmlformats.org/officeDocument/2006/relationships/notesMaster" Target="/ppt/notesMasters/notesMaster1.xml" Id="Re229a4607b084b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09f457d5bb49ba" /><Relationship Type="http://schemas.openxmlformats.org/officeDocument/2006/relationships/notesMaster" Target="/ppt/notesMasters/notesMaster1.xml" Id="R9f88ec4cfa4449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cbb871e2194da0" /><Relationship Type="http://schemas.openxmlformats.org/officeDocument/2006/relationships/notesMaster" Target="/ppt/notesMasters/notesMaster1.xml" Id="R0410c464a1be4d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f2f668eb2e4b17" /><Relationship Type="http://schemas.openxmlformats.org/officeDocument/2006/relationships/notesMaster" Target="/ppt/notesMasters/notesMaster1.xml" Id="Rf0bdaa4c1c9245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efbcdb2f334086" /><Relationship Type="http://schemas.openxmlformats.org/officeDocument/2006/relationships/notesMaster" Target="/ppt/notesMasters/notesMaster1.xml" Id="R5a35cad7df5745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5bd6bb2e9f4bad" /><Relationship Type="http://schemas.openxmlformats.org/officeDocument/2006/relationships/notesMaster" Target="/ppt/notesMasters/notesMaster1.xml" Id="R209d18a4f5dc45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ebc45d9a0841aa" /><Relationship Type="http://schemas.openxmlformats.org/officeDocument/2006/relationships/notesMaster" Target="/ppt/notesMasters/notesMaster1.xml" Id="Rd797cfad0a4543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738bc5074a497b" /><Relationship Type="http://schemas.openxmlformats.org/officeDocument/2006/relationships/notesMaster" Target="/ppt/notesMasters/notesMaster1.xml" Id="Rf45f6b329b4246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开场先强调：这不是两个孤立页面，而是围绕咖啡认知设计的两段连续体验。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PPT图片/KFTI_page.png</a:t>
            </a:r>
          </a:p>
          <a:p xmlns:a="http://schemas.openxmlformats.org/drawingml/2006/main">
            <a:r>
              <a:t>- PPT图片/page.png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这一页建立整体框架：KFTI负责降低理解门槛，庄园负责把知识变成决策，两者共同完成从偏好到产区的认知链。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PPT图片/KFTI_page.png</a:t>
            </a:r>
          </a:p>
          <a:p xmlns:a="http://schemas.openxmlformats.org/drawingml/2006/main">
            <a:r>
              <a:t>- PPT图片/page.png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KFTI 的信息设计重点是：先让用户回答熟悉的情境，再在结果页解释咖啡偏好的含义，降低专业术语的进入门槛。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PPT图片/KFTI_choice.png</a:t>
            </a:r>
          </a:p>
          <a:p xmlns:a="http://schemas.openxmlformats.org/drawingml/2006/main">
            <a:r>
              <a:t>- PPT图片/KFTI_result_2.png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 MRXA“层次探索家”为例，结果页同时回答‘我是谁、我偏好什么、可以喝什么、为什么会这样’，把一次测试变成后续探索入口。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PPT图片/KFTI_result_1.png</a:t>
            </a:r>
          </a:p>
          <a:p xmlns:a="http://schemas.openxmlformats.org/drawingml/2006/main">
            <a:r>
              <a:t>- PPT图片/KFTI_result_2.png</a:t>
            </a:r>
          </a:p>
          <a:p xmlns:a="http://schemas.openxmlformats.org/drawingml/2006/main">
            <a:r>
              <a:t>- PPT图片/KFTI_result_3.png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庄园端的核心不是记知识点，而是理解变量之间的耦合：高风味往往意味着更高成本、更慢生长或更低产量。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PPT图片/choice.png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frontend/js/game/rounds.js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事件系统把气候、病虫害、劳动力与乡土互助等因素转化为玩家可以理解的经营压力。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PPT图片/accident.png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frontend/js/game/events.js</a:t>
            </a:r>
          </a:p>
          <a:p xmlns:a="http://schemas.openxmlformats.org/drawingml/2006/main">
            <a:r>
              <a:t>- frontend/js/game/engine.js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这一页强调系统的可解释性：玩家不仅看到一个分数，还能看到每轮资源、标签、买家、单价与净利润是如何形成的。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PPT图片/summary.png</a:t>
            </a:r>
          </a:p>
          <a:p xmlns:a="http://schemas.openxmlformats.org/drawingml/2006/main">
            <a:r>
              <a:t>- PPT图片/trading_card.png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frontend/js/game/settlement.js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除玩法闭环外，庄园端还提供刷新续玩、自动测试与数值模拟，使演示版本具备继续迭代的工程基础。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PPT图片/ranking.png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tests/game.test.js</a:t>
            </a:r>
          </a:p>
          <a:p xmlns:a="http://schemas.openxmlformats.org/drawingml/2006/main">
            <a:r>
              <a:t>- scripts/simulation.js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收束时回到开场：KFTI帮助用户找到自己的入口，庄园让用户理解一杯咖啡背后的土地与经营。下一步重点是把两段体验通过推荐、身份与分享机制连成完整产品。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frontend/assets/images/stages/mainpage_phase5_middle_picture.png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PPT图片目录内全部用户提供截图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c4b9c4d11542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f28abffa6b4653" /><Relationship Type="http://schemas.openxmlformats.org/officeDocument/2006/relationships/slideLayout" Target="/ppt/slideLayouts/slideLayout1.xml" Id="R4a441ac0f07643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441ac0f07643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eb4e4fce0449b" /><Relationship Type="http://schemas.openxmlformats.org/officeDocument/2006/relationships/image" Target="/ppt/media/image.png" Id="R2d811ca5bc2244df" /><Relationship Type="http://schemas.openxmlformats.org/officeDocument/2006/relationships/image" Target="/ppt/media/image2.png" Id="R81de70c007bc44a6" /><Relationship Type="http://schemas.openxmlformats.org/officeDocument/2006/relationships/notesSlide" Target="/ppt/notesSlides/notesSlide1.xml" Id="R32de490b535e40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8d973487e4ffb" /><Relationship Type="http://schemas.openxmlformats.org/officeDocument/2006/relationships/notesSlide" Target="/ppt/notesSlides/notesSlide2.xml" Id="R8d4b927a4f624f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036c7ae7449b9" /><Relationship Type="http://schemas.openxmlformats.org/officeDocument/2006/relationships/image" Target="/ppt/media/image3.png" Id="R0de45b58e37b447e" /><Relationship Type="http://schemas.openxmlformats.org/officeDocument/2006/relationships/notesSlide" Target="/ppt/notesSlides/notesSlide3.xml" Id="R19cff8b1369a47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f7fc8d4824296" /><Relationship Type="http://schemas.openxmlformats.org/officeDocument/2006/relationships/image" Target="/ppt/media/image4.png" Id="Rc9ce487a87bd42cd" /><Relationship Type="http://schemas.openxmlformats.org/officeDocument/2006/relationships/image" Target="/ppt/media/image5.png" Id="Ra831e3628af44773" /><Relationship Type="http://schemas.openxmlformats.org/officeDocument/2006/relationships/image" Target="/ppt/media/image6.png" Id="R600034f4a243408a" /><Relationship Type="http://schemas.openxmlformats.org/officeDocument/2006/relationships/notesSlide" Target="/ppt/notesSlides/notesSlide4.xml" Id="R2f274c1f48434e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04ad13c044385" /><Relationship Type="http://schemas.openxmlformats.org/officeDocument/2006/relationships/image" Target="/ppt/media/image7.png" Id="R355161abc6ce4cce" /><Relationship Type="http://schemas.openxmlformats.org/officeDocument/2006/relationships/notesSlide" Target="/ppt/notesSlides/notesSlide5.xml" Id="Rf9a218ea2c924a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c7b5b2cc54091" /><Relationship Type="http://schemas.openxmlformats.org/officeDocument/2006/relationships/image" Target="/ppt/media/image8.png" Id="R8918c628ff924733" /><Relationship Type="http://schemas.openxmlformats.org/officeDocument/2006/relationships/notesSlide" Target="/ppt/notesSlides/notesSlide6.xml" Id="R31c8166dbb1b44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a8514d83e4c9a" /><Relationship Type="http://schemas.openxmlformats.org/officeDocument/2006/relationships/image" Target="/ppt/media/image9.png" Id="R06e2eb6c2fdb4f53" /><Relationship Type="http://schemas.openxmlformats.org/officeDocument/2006/relationships/image" Target="/ppt/media/image10.png" Id="Ra91d57b006864e15" /><Relationship Type="http://schemas.openxmlformats.org/officeDocument/2006/relationships/notesSlide" Target="/ppt/notesSlides/notesSlide7.xml" Id="Rb68fca81573742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4c569f7464f27" /><Relationship Type="http://schemas.openxmlformats.org/officeDocument/2006/relationships/image" Target="/ppt/media/image11.png" Id="R8b22d752501a4f33" /><Relationship Type="http://schemas.openxmlformats.org/officeDocument/2006/relationships/notesSlide" Target="/ppt/notesSlides/notesSlide8.xml" Id="Ra08815c53c0548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b4ae53895a4b77" /><Relationship Type="http://schemas.openxmlformats.org/officeDocument/2006/relationships/image" Target="/ppt/media/image12.png" Id="Rb6db9130b0c04197" /><Relationship Type="http://schemas.openxmlformats.org/officeDocument/2006/relationships/notesSlide" Target="/ppt/notesSlides/notesSlide9.xml" Id="R7bf23b78f9b145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022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811ca5bc2244df"/>
          <a:srcRect xmlns:a="http://schemas.openxmlformats.org/drawingml/2006/main" l="0" t="20624" r="0" b="206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6858000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e70c007bc44a6"/>
          <a:srcRect xmlns:a="http://schemas.openxmlformats.org/drawingml/2006/main" l="0" t="19938" r="0" b="199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cover-overlay">
            <a:extLst xmlns:a="http://schemas.openxmlformats.org/drawingml/2006/main">
              <a:ext uri="{FF2B5EF4-FFF2-40B4-BE49-F238E27FC236}">
                <a16:creationId xmlns:a16="http://schemas.microsoft.com/office/drawing/2014/main" id="{2CD3341F-BBDA-48F5-90F6-4235647E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20C">
              <a:alpha val="6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93C0567F-0880-4F62-A247-77C3961B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0487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E9D8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9D8C1"/>
                </a:solidFill>
                <a:latin typeface="Microsoft YaHei"/>
                <a:ea typeface="Microsoft YaHei"/>
                <a:cs typeface="Microsoft YaHei"/>
              </a:rPr>
              <a:t>INTERACTIVE COFFEE EXPERIENCE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5BE5E11-0A3E-4B5F-9FEB-A52A7AC7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10620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100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KFTI × 南涧咖啡庄园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FA79E70-A4DF-4EB5-8F0A-FA1476E3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F1E5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1E5D5"/>
                </a:solidFill>
                <a:latin typeface="Microsoft YaHei"/>
                <a:ea typeface="Microsoft YaHei"/>
                <a:cs typeface="Microsoft YaHei"/>
              </a:rPr>
              <a:t>从认识自己的咖啡偏好，到经营一座山地庄园</a:t>
            </a:r>
          </a:p>
        </p:txBody>
      </p:sp>
      <p:sp>
        <p:nvSpPr>
          <p:cNvPr id="7" name="cover-rule">
            <a:extLst xmlns:a="http://schemas.openxmlformats.org/drawingml/2006/main">
              <a:ext uri="{FF2B5EF4-FFF2-40B4-BE49-F238E27FC236}">
                <a16:creationId xmlns:a16="http://schemas.microsoft.com/office/drawing/2014/main" id="{C5EBC19F-D709-48C8-9A2C-34D76B46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0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meta">
            <a:extLst xmlns:a="http://schemas.openxmlformats.org/drawingml/2006/main">
              <a:ext uri="{FF2B5EF4-FFF2-40B4-BE49-F238E27FC236}">
                <a16:creationId xmlns:a16="http://schemas.microsoft.com/office/drawing/2014/main" id="{F46EBE09-33C0-4BDB-AA74-8AD4CC6D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E9D8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9D8C1"/>
                </a:solidFill>
                <a:latin typeface="Microsoft YaHei"/>
                <a:ea typeface="Microsoft YaHei"/>
                <a:cs typeface="Microsoft YaHei"/>
              </a:rPr>
              <a:t>项目汇报 · 互动测试 × 经营模拟</a:t>
            </a:r>
          </a:p>
        </p:txBody>
      </p:sp>
    </p:spTree>
    <p:extLst>
      <p:ext uri="{BB962C8B-B14F-4D97-AF65-F5344CB8AC3E}">
        <p14:creationId xmlns:p14="http://schemas.microsoft.com/office/powerpoint/2010/main" val="9586312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2">
            <a:extLst xmlns:a="http://schemas.openxmlformats.org/drawingml/2006/main">
              <a:ext uri="{FF2B5EF4-FFF2-40B4-BE49-F238E27FC236}">
                <a16:creationId xmlns:a16="http://schemas.microsoft.com/office/drawing/2014/main" id="{61C6475A-C954-4CD2-A9B8-EE882E71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01 / 项目定位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B420B7F0-740D-4EC9-AD33-ED0866B9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两条体验路径，回答同一个问题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11AD9627-892A-47E9-A3B0-DC0828E8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怎样让咖啡从“饮品”变成可理解、可参与、可复玩的文化体验？</a:t>
            </a:r>
          </a:p>
        </p:txBody>
      </p:sp>
      <p:sp>
        <p:nvSpPr>
          <p:cNvPr id="4" name="accent-2">
            <a:extLst xmlns:a="http://schemas.openxmlformats.org/drawingml/2006/main">
              <a:ext uri="{FF2B5EF4-FFF2-40B4-BE49-F238E27FC236}">
                <a16:creationId xmlns:a16="http://schemas.microsoft.com/office/drawing/2014/main" id="{7622BFF0-51B9-48B8-82BE-8002DD8E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ine-2">
            <a:extLst xmlns:a="http://schemas.openxmlformats.org/drawingml/2006/main">
              <a:ext uri="{FF2B5EF4-FFF2-40B4-BE49-F238E27FC236}">
                <a16:creationId xmlns:a16="http://schemas.microsoft.com/office/drawing/2014/main" id="{E20D4BBF-6FA2-4261-90A0-EB3C9D45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03AF5906-EAA5-4DEB-A673-DD3079ED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KFTI × 南涧咖啡庄园</a:t>
            </a:r>
          </a:p>
        </p:txBody>
      </p:sp>
      <p:sp>
        <p:nvSpPr>
          <p:cNvPr id="7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4E09363D-339A-4834-8826-E072D19A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s2-left-index">
            <a:extLst xmlns:a="http://schemas.openxmlformats.org/drawingml/2006/main">
              <a:ext uri="{FF2B5EF4-FFF2-40B4-BE49-F238E27FC236}">
                <a16:creationId xmlns:a16="http://schemas.microsoft.com/office/drawing/2014/main" id="{00699292-30DF-422D-8CFA-6379C94E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95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35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s2-left-title">
            <a:extLst xmlns:a="http://schemas.openxmlformats.org/drawingml/2006/main">
              <a:ext uri="{FF2B5EF4-FFF2-40B4-BE49-F238E27FC236}">
                <a16:creationId xmlns:a16="http://schemas.microsoft.com/office/drawing/2014/main" id="{CFF4AB6D-6D30-4ED9-AD71-EFAE8DB3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KFTI 咖啡人格测试</a:t>
            </a:r>
          </a:p>
        </p:txBody>
      </p:sp>
      <p:sp>
        <p:nvSpPr>
          <p:cNvPr id="10" name="s2-left-body">
            <a:extLst xmlns:a="http://schemas.openxmlformats.org/drawingml/2006/main">
              <a:ext uri="{FF2B5EF4-FFF2-40B4-BE49-F238E27FC236}">
                <a16:creationId xmlns:a16="http://schemas.microsoft.com/office/drawing/2014/main" id="{90DA9620-8AEC-4ADE-88BA-AB6B90D0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从日常选择切入，把奶感、仪式、猎奇与酸苦偏好转译成一组可被讲述的咖啡人格。</a:t>
            </a:r>
          </a:p>
        </p:txBody>
      </p:sp>
      <p:sp>
        <p:nvSpPr>
          <p:cNvPr id="11" name="s2-left-outcome">
            <a:extLst xmlns:a="http://schemas.openxmlformats.org/drawingml/2006/main">
              <a:ext uri="{FF2B5EF4-FFF2-40B4-BE49-F238E27FC236}">
                <a16:creationId xmlns:a16="http://schemas.microsoft.com/office/drawing/2014/main" id="{87D8A953-C31F-42B4-A545-6104D14E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rPr>
              <a:t>认识自己 → 找到风味入口</a:t>
            </a:r>
          </a:p>
        </p:txBody>
      </p:sp>
      <p:sp>
        <p:nvSpPr>
          <p:cNvPr id="12" name="s2-divider">
            <a:extLst xmlns:a="http://schemas.openxmlformats.org/drawingml/2006/main">
              <a:ext uri="{FF2B5EF4-FFF2-40B4-BE49-F238E27FC236}">
                <a16:creationId xmlns:a16="http://schemas.microsoft.com/office/drawing/2014/main" id="{31B08331-6AEA-40D3-AAA4-2127EC8B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2-right-index">
            <a:extLst xmlns:a="http://schemas.openxmlformats.org/drawingml/2006/main">
              <a:ext uri="{FF2B5EF4-FFF2-40B4-BE49-F238E27FC236}">
                <a16:creationId xmlns:a16="http://schemas.microsoft.com/office/drawing/2014/main" id="{7B930DF1-7BAD-480D-9611-1F8FA1CD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38375"/>
            <a:ext cx="95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35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s2-right-title">
            <a:extLst xmlns:a="http://schemas.openxmlformats.org/drawingml/2006/main">
              <a:ext uri="{FF2B5EF4-FFF2-40B4-BE49-F238E27FC236}">
                <a16:creationId xmlns:a16="http://schemas.microsoft.com/office/drawing/2014/main" id="{0B8E54D7-DC84-4F36-BC2F-1AD9726D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003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南涧咖啡庄园</a:t>
            </a:r>
          </a:p>
        </p:txBody>
      </p:sp>
      <p:sp>
        <p:nvSpPr>
          <p:cNvPr id="15" name="s2-right-body">
            <a:extLst xmlns:a="http://schemas.openxmlformats.org/drawingml/2006/main">
              <a:ext uri="{FF2B5EF4-FFF2-40B4-BE49-F238E27FC236}">
                <a16:creationId xmlns:a16="http://schemas.microsoft.com/office/drawing/2014/main" id="{C4A7F2F2-3B0E-4823-BF14-D6DBB57C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0045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把产区、农艺、采收与处理变成五轮经营决策，让玩家亲手承担成本、风险与品质之间的取舍。</a:t>
            </a:r>
          </a:p>
        </p:txBody>
      </p:sp>
      <p:sp>
        <p:nvSpPr>
          <p:cNvPr id="16" name="s2-right-outcome">
            <a:extLst xmlns:a="http://schemas.openxmlformats.org/drawingml/2006/main">
              <a:ext uri="{FF2B5EF4-FFF2-40B4-BE49-F238E27FC236}">
                <a16:creationId xmlns:a16="http://schemas.microsoft.com/office/drawing/2014/main" id="{3EE2343B-84BB-4F6C-87A1-7D3250C9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435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理解产区 → 看见选择后果</a:t>
            </a:r>
          </a:p>
        </p:txBody>
      </p:sp>
    </p:spTree>
    <p:extLst>
      <p:ext uri="{BB962C8B-B14F-4D97-AF65-F5344CB8AC3E}">
        <p14:creationId xmlns:p14="http://schemas.microsoft.com/office/powerpoint/2010/main" val="13386790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-3">
            <a:extLst xmlns:a="http://schemas.openxmlformats.org/drawingml/2006/main">
              <a:ext uri="{FF2B5EF4-FFF2-40B4-BE49-F238E27FC236}">
                <a16:creationId xmlns:a16="http://schemas.microsoft.com/office/drawing/2014/main" id="{09B86A6E-953A-4FE0-B4FC-6410435B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02 / KFTI 机制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18DA56CD-FF7C-439A-8570-60DB3444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12 道情境题，把抽象偏好变成四维人格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0DFA03F5-4AA8-4B6B-84A3-C7EFA8CE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题目不直接问“喜欢哪种豆”，而是用团队协作、生活习惯与选择方式映射偏好。 </a:t>
            </a:r>
          </a:p>
        </p:txBody>
      </p:sp>
      <p:sp>
        <p:nvSpPr>
          <p:cNvPr id="4" name="accent-3">
            <a:extLst xmlns:a="http://schemas.openxmlformats.org/drawingml/2006/main">
              <a:ext uri="{FF2B5EF4-FFF2-40B4-BE49-F238E27FC236}">
                <a16:creationId xmlns:a16="http://schemas.microsoft.com/office/drawing/2014/main" id="{BA63B783-7C8E-432C-9187-597D899E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ine-3">
            <a:extLst xmlns:a="http://schemas.openxmlformats.org/drawingml/2006/main">
              <a:ext uri="{FF2B5EF4-FFF2-40B4-BE49-F238E27FC236}">
                <a16:creationId xmlns:a16="http://schemas.microsoft.com/office/drawing/2014/main" id="{9DFD2A4F-5D16-4B25-81D4-22436C3C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2377FBF0-873F-4B3C-ACFF-9A3A1C07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KFTI × 南涧咖啡庄园</a:t>
            </a:r>
          </a:p>
        </p:txBody>
      </p:sp>
      <p:sp>
        <p:nvSpPr>
          <p:cNvPr id="7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0B222B25-63A2-4CCA-A348-E461B07A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kfti-question-shadow">
            <a:extLst xmlns:a="http://schemas.openxmlformats.org/drawingml/2006/main">
              <a:ext uri="{FF2B5EF4-FFF2-40B4-BE49-F238E27FC236}">
                <a16:creationId xmlns:a16="http://schemas.microsoft.com/office/drawing/2014/main" id="{9B331647-AB3A-4C6E-9EE8-3B424948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2857500" cy="4191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3A2418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45b58e37b447e"/>
          <a:stretch xmlns:a="http://schemas.openxmlformats.org/drawingml/2006/main"/>
        </p:blipFill>
        <p:spPr>
          <a:xfrm xmlns:a="http://schemas.openxmlformats.org/drawingml/2006/main">
            <a:off x="1132522" y="1952625"/>
            <a:ext cx="2154557" cy="41910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10" name="s3-claim">
            <a:extLst xmlns:a="http://schemas.openxmlformats.org/drawingml/2006/main">
              <a:ext uri="{FF2B5EF4-FFF2-40B4-BE49-F238E27FC236}">
                <a16:creationId xmlns:a16="http://schemas.microsoft.com/office/drawing/2014/main" id="{9F3C0B30-45E7-4204-A364-4B9AF001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7645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1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四个维度共同构成人格代码</a:t>
            </a:r>
          </a:p>
        </p:txBody>
      </p:sp>
      <p:sp>
        <p:nvSpPr>
          <p:cNvPr id="11" name="s3-code-0">
            <a:extLst xmlns:a="http://schemas.openxmlformats.org/drawingml/2006/main">
              <a:ext uri="{FF2B5EF4-FFF2-40B4-BE49-F238E27FC236}">
                <a16:creationId xmlns:a16="http://schemas.microsoft.com/office/drawing/2014/main" id="{456D337E-5E9E-4FE2-A4F3-2A509930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8130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rPr>
              <a:t>M · Milk</a:t>
            </a:r>
          </a:p>
        </p:txBody>
      </p:sp>
      <p:sp>
        <p:nvSpPr>
          <p:cNvPr id="12" name="s3-name-0">
            <a:extLst xmlns:a="http://schemas.openxmlformats.org/drawingml/2006/main">
              <a:ext uri="{FF2B5EF4-FFF2-40B4-BE49-F238E27FC236}">
                <a16:creationId xmlns:a16="http://schemas.microsoft.com/office/drawing/2014/main" id="{C440312F-CAAF-471A-BFE8-902A473A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81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奶感与连接</a:t>
            </a:r>
          </a:p>
        </p:txBody>
      </p:sp>
      <p:sp>
        <p:nvSpPr>
          <p:cNvPr id="13" name="s3-desc-0">
            <a:extLst xmlns:a="http://schemas.openxmlformats.org/drawingml/2006/main">
              <a:ext uri="{FF2B5EF4-FFF2-40B4-BE49-F238E27FC236}">
                <a16:creationId xmlns:a16="http://schemas.microsoft.com/office/drawing/2014/main" id="{F70C10C0-CF65-42EC-9337-FCB1580F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关注温和、包容与情绪联结</a:t>
            </a:r>
          </a:p>
        </p:txBody>
      </p:sp>
      <p:sp>
        <p:nvSpPr>
          <p:cNvPr id="14" name="s3-sep-0">
            <a:extLst xmlns:a="http://schemas.openxmlformats.org/drawingml/2006/main">
              <a:ext uri="{FF2B5EF4-FFF2-40B4-BE49-F238E27FC236}">
                <a16:creationId xmlns:a16="http://schemas.microsoft.com/office/drawing/2014/main" id="{59869547-35DA-4F37-BE33-9BE13E97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05175"/>
            <a:ext cx="681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3-code-1">
            <a:extLst xmlns:a="http://schemas.openxmlformats.org/drawingml/2006/main">
              <a:ext uri="{FF2B5EF4-FFF2-40B4-BE49-F238E27FC236}">
                <a16:creationId xmlns:a16="http://schemas.microsoft.com/office/drawing/2014/main" id="{22851E5A-7782-4181-991A-D50CE5E4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33775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rPr>
              <a:t>R · Ritual</a:t>
            </a:r>
          </a:p>
        </p:txBody>
      </p:sp>
      <p:sp>
        <p:nvSpPr>
          <p:cNvPr id="16" name="s3-name-1">
            <a:extLst xmlns:a="http://schemas.openxmlformats.org/drawingml/2006/main">
              <a:ext uri="{FF2B5EF4-FFF2-40B4-BE49-F238E27FC236}">
                <a16:creationId xmlns:a16="http://schemas.microsoft.com/office/drawing/2014/main" id="{40061B81-A8BB-445D-83FA-7DC68609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337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仪式与层次</a:t>
            </a:r>
          </a:p>
        </p:txBody>
      </p:sp>
      <p:sp>
        <p:nvSpPr>
          <p:cNvPr id="17" name="s3-desc-1">
            <a:extLst xmlns:a="http://schemas.openxmlformats.org/drawingml/2006/main">
              <a:ext uri="{FF2B5EF4-FFF2-40B4-BE49-F238E27FC236}">
                <a16:creationId xmlns:a16="http://schemas.microsoft.com/office/drawing/2014/main" id="{666560CA-0267-4330-82E1-D417BCD4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337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偏好结构、过程与完整体验</a:t>
            </a:r>
          </a:p>
        </p:txBody>
      </p:sp>
      <p:sp>
        <p:nvSpPr>
          <p:cNvPr id="18" name="s3-sep-1">
            <a:extLst xmlns:a="http://schemas.openxmlformats.org/drawingml/2006/main">
              <a:ext uri="{FF2B5EF4-FFF2-40B4-BE49-F238E27FC236}">
                <a16:creationId xmlns:a16="http://schemas.microsoft.com/office/drawing/2014/main" id="{4FA3D1A2-B078-44E5-867B-A01CCDB8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57650"/>
            <a:ext cx="681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3-code-2">
            <a:extLst xmlns:a="http://schemas.openxmlformats.org/drawingml/2006/main">
              <a:ext uri="{FF2B5EF4-FFF2-40B4-BE49-F238E27FC236}">
                <a16:creationId xmlns:a16="http://schemas.microsoft.com/office/drawing/2014/main" id="{ED448493-FEF0-4981-BAA8-A9B6AD5A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8625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X · Novelty</a:t>
            </a:r>
          </a:p>
        </p:txBody>
      </p:sp>
      <p:sp>
        <p:nvSpPr>
          <p:cNvPr id="20" name="s3-name-2">
            <a:extLst xmlns:a="http://schemas.openxmlformats.org/drawingml/2006/main">
              <a:ext uri="{FF2B5EF4-FFF2-40B4-BE49-F238E27FC236}">
                <a16:creationId xmlns:a16="http://schemas.microsoft.com/office/drawing/2014/main" id="{36EAE1E0-A4AF-48DD-9F7D-A1A69BE9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86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新奇与反差</a:t>
            </a:r>
          </a:p>
        </p:txBody>
      </p:sp>
      <p:sp>
        <p:nvSpPr>
          <p:cNvPr id="21" name="s3-desc-2">
            <a:extLst xmlns:a="http://schemas.openxmlformats.org/drawingml/2006/main">
              <a:ext uri="{FF2B5EF4-FFF2-40B4-BE49-F238E27FC236}">
                <a16:creationId xmlns:a16="http://schemas.microsoft.com/office/drawing/2014/main" id="{5782917B-A28C-4963-BCAA-3A07FF49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862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乐于尝试非典型组合与复杂风味</a:t>
            </a:r>
          </a:p>
        </p:txBody>
      </p:sp>
      <p:sp>
        <p:nvSpPr>
          <p:cNvPr id="22" name="s3-sep-2">
            <a:extLst xmlns:a="http://schemas.openxmlformats.org/drawingml/2006/main">
              <a:ext uri="{FF2B5EF4-FFF2-40B4-BE49-F238E27FC236}">
                <a16:creationId xmlns:a16="http://schemas.microsoft.com/office/drawing/2014/main" id="{EEDF4296-8F95-4AD6-A1D6-1BEB2102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10125"/>
            <a:ext cx="681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3-code-3">
            <a:extLst xmlns:a="http://schemas.openxmlformats.org/drawingml/2006/main">
              <a:ext uri="{FF2B5EF4-FFF2-40B4-BE49-F238E27FC236}">
                <a16:creationId xmlns:a16="http://schemas.microsoft.com/office/drawing/2014/main" id="{2CA193B6-99FE-4940-B8A1-59EA76CF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38725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4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A · Acid / Bitter</a:t>
            </a:r>
          </a:p>
        </p:txBody>
      </p:sp>
      <p:sp>
        <p:nvSpPr>
          <p:cNvPr id="24" name="s3-name-3">
            <a:extLst xmlns:a="http://schemas.openxmlformats.org/drawingml/2006/main">
              <a:ext uri="{FF2B5EF4-FFF2-40B4-BE49-F238E27FC236}">
                <a16:creationId xmlns:a16="http://schemas.microsoft.com/office/drawing/2014/main" id="{46E5CFFF-9464-4BEB-A416-D2DE54F7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387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酸苦取向</a:t>
            </a:r>
          </a:p>
        </p:txBody>
      </p:sp>
      <p:sp>
        <p:nvSpPr>
          <p:cNvPr id="25" name="s3-desc-3">
            <a:extLst xmlns:a="http://schemas.openxmlformats.org/drawingml/2006/main">
              <a:ext uri="{FF2B5EF4-FFF2-40B4-BE49-F238E27FC236}">
                <a16:creationId xmlns:a16="http://schemas.microsoft.com/office/drawing/2014/main" id="{D2EE6B4A-CB0B-41CA-95F7-99C11ACF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387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强调鲜明个性，而非迎合多数口味</a:t>
            </a:r>
          </a:p>
        </p:txBody>
      </p:sp>
    </p:spTree>
    <p:extLst>
      <p:ext uri="{BB962C8B-B14F-4D97-AF65-F5344CB8AC3E}">
        <p14:creationId xmlns:p14="http://schemas.microsoft.com/office/powerpoint/2010/main" val="11329288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4">
            <a:extLst xmlns:a="http://schemas.openxmlformats.org/drawingml/2006/main">
              <a:ext uri="{FF2B5EF4-FFF2-40B4-BE49-F238E27FC236}">
                <a16:creationId xmlns:a16="http://schemas.microsoft.com/office/drawing/2014/main" id="{7A6A38CE-C39F-41F2-AE46-26B9456E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03 / KFTI 输出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10557254-8666-4F96-A84A-A4B07F9A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结果不止给标签，还给出一套可继续探索的线索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6A584442-1671-4B97-8433-83FD1A1C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人格代码、风味档案、产区推荐、四维解释与关系提示共同组成完整结果页。 </a:t>
            </a:r>
          </a:p>
        </p:txBody>
      </p:sp>
      <p:sp>
        <p:nvSpPr>
          <p:cNvPr id="4" name="accent-4">
            <a:extLst xmlns:a="http://schemas.openxmlformats.org/drawingml/2006/main">
              <a:ext uri="{FF2B5EF4-FFF2-40B4-BE49-F238E27FC236}">
                <a16:creationId xmlns:a16="http://schemas.microsoft.com/office/drawing/2014/main" id="{0D1C1C24-E31D-4455-A98D-BF232219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ine-4">
            <a:extLst xmlns:a="http://schemas.openxmlformats.org/drawingml/2006/main">
              <a:ext uri="{FF2B5EF4-FFF2-40B4-BE49-F238E27FC236}">
                <a16:creationId xmlns:a16="http://schemas.microsoft.com/office/drawing/2014/main" id="{7960F41B-38BF-46B2-B4CE-7EA7BCEB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73D1920E-1C3E-4291-A298-5D05391D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KFTI × 南涧咖啡庄园</a:t>
            </a:r>
          </a:p>
        </p:txBody>
      </p:sp>
      <p:sp>
        <p:nvSpPr>
          <p:cNvPr id="7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7FF7E145-9CFB-4084-BA1D-0CE1D28B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kfti-result-1-shadow">
            <a:extLst xmlns:a="http://schemas.openxmlformats.org/drawingml/2006/main">
              <a:ext uri="{FF2B5EF4-FFF2-40B4-BE49-F238E27FC236}">
                <a16:creationId xmlns:a16="http://schemas.microsoft.com/office/drawing/2014/main" id="{616DA931-1E2E-4FD2-AB7A-16CC8709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3219450" cy="4191000"/>
          </a:xfrm>
          <a:prstGeom xmlns:a="http://schemas.openxmlformats.org/drawingml/2006/main" prst="roundRect">
            <a:avLst>
              <a:gd name="adj" fmla="val 5325"/>
            </a:avLst>
          </a:prstGeom>
          <a:solidFill xmlns:a="http://schemas.openxmlformats.org/drawingml/2006/main">
            <a:srgbClr val="3A2418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ce487a87bd42cd"/>
          <a:srcRect xmlns:a="http://schemas.openxmlformats.org/drawingml/2006/main" l="0" t="16129" r="0" b="161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952625"/>
            <a:ext cx="3219450" cy="4191000"/>
          </a:xfrm>
          <a:prstGeom xmlns:a="http://schemas.openxmlformats.org/drawingml/2006/main" prst="roundRect">
            <a:avLst>
              <a:gd name="adj" fmla="val 5325"/>
            </a:avLst>
          </a:prstGeom>
        </p:spPr>
      </p:pic>
      <p:sp>
        <p:nvSpPr>
          <p:cNvPr id="10" name="kfti-result-2-shadow">
            <a:extLst xmlns:a="http://schemas.openxmlformats.org/drawingml/2006/main">
              <a:ext uri="{FF2B5EF4-FFF2-40B4-BE49-F238E27FC236}">
                <a16:creationId xmlns:a16="http://schemas.microsoft.com/office/drawing/2014/main" id="{10088178-A417-4B3C-9A1B-5417D624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47875"/>
            <a:ext cx="3219450" cy="4191000"/>
          </a:xfrm>
          <a:prstGeom xmlns:a="http://schemas.openxmlformats.org/drawingml/2006/main" prst="roundRect">
            <a:avLst>
              <a:gd name="adj" fmla="val 5325"/>
            </a:avLst>
          </a:prstGeom>
          <a:solidFill xmlns:a="http://schemas.openxmlformats.org/drawingml/2006/main">
            <a:srgbClr val="3A2418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31e3628af44773"/>
          <a:srcRect xmlns:a="http://schemas.openxmlformats.org/drawingml/2006/main" l="0" t="16793" r="0" b="167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0" y="1952625"/>
            <a:ext cx="3219450" cy="4191000"/>
          </a:xfrm>
          <a:prstGeom xmlns:a="http://schemas.openxmlformats.org/drawingml/2006/main" prst="roundRect">
            <a:avLst>
              <a:gd name="adj" fmla="val 5325"/>
            </a:avLst>
          </a:prstGeom>
        </p:spPr>
      </p:pic>
      <p:sp>
        <p:nvSpPr>
          <p:cNvPr id="12" name="kfti-result-3-shadow">
            <a:extLst xmlns:a="http://schemas.openxmlformats.org/drawingml/2006/main">
              <a:ext uri="{FF2B5EF4-FFF2-40B4-BE49-F238E27FC236}">
                <a16:creationId xmlns:a16="http://schemas.microsoft.com/office/drawing/2014/main" id="{24FCD202-A7E4-4646-90B6-A1F5E04A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47875"/>
            <a:ext cx="3219450" cy="4191000"/>
          </a:xfrm>
          <a:prstGeom xmlns:a="http://schemas.openxmlformats.org/drawingml/2006/main" prst="roundRect">
            <a:avLst>
              <a:gd name="adj" fmla="val 5325"/>
            </a:avLst>
          </a:prstGeom>
          <a:solidFill xmlns:a="http://schemas.openxmlformats.org/drawingml/2006/main">
            <a:srgbClr val="3A2418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0034f4a243408a"/>
          <a:srcRect xmlns:a="http://schemas.openxmlformats.org/drawingml/2006/main" l="0" t="15743" r="0" b="157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4850" y="1952625"/>
            <a:ext cx="3219450" cy="4191000"/>
          </a:xfrm>
          <a:prstGeom xmlns:a="http://schemas.openxmlformats.org/drawingml/2006/main" prst="roundRect">
            <a:avLst>
              <a:gd name="adj" fmla="val 5325"/>
            </a:avLst>
          </a:prstGeom>
        </p:spPr>
      </p:pic>
      <p:sp>
        <p:nvSpPr>
          <p:cNvPr id="14" name="s4-label-1">
            <a:extLst xmlns:a="http://schemas.openxmlformats.org/drawingml/2006/main">
              <a:ext uri="{FF2B5EF4-FFF2-40B4-BE49-F238E27FC236}">
                <a16:creationId xmlns:a16="http://schemas.microsoft.com/office/drawing/2014/main" id="{18038185-7E5A-477B-BA74-6A8027D0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912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3322">
              <a:alpha val="88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28575" rIns="76200" bIns="28575" anchor="t">
            <a:normAutofit fontScale="885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身份与风味</a:t>
            </a:r>
          </a:p>
        </p:txBody>
      </p:sp>
      <p:sp>
        <p:nvSpPr>
          <p:cNvPr id="15" name="s4-label-2">
            <a:extLst xmlns:a="http://schemas.openxmlformats.org/drawingml/2006/main">
              <a:ext uri="{FF2B5EF4-FFF2-40B4-BE49-F238E27FC236}">
                <a16:creationId xmlns:a16="http://schemas.microsoft.com/office/drawing/2014/main" id="{41E0566F-5527-4470-8537-0EE6C478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7912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3322">
              <a:alpha val="88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28575" rIns="76200" bIns="28575" anchor="t">
            <a:normAutofit fontScale="885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四维拆解</a:t>
            </a:r>
          </a:p>
        </p:txBody>
      </p:sp>
      <p:sp>
        <p:nvSpPr>
          <p:cNvPr id="16" name="s4-label-3">
            <a:extLst xmlns:a="http://schemas.openxmlformats.org/drawingml/2006/main">
              <a:ext uri="{FF2B5EF4-FFF2-40B4-BE49-F238E27FC236}">
                <a16:creationId xmlns:a16="http://schemas.microsoft.com/office/drawing/2014/main" id="{C550CCCE-4810-46C1-8C4F-24D00F5E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7912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3322">
              <a:alpha val="88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28575" rIns="76200" bIns="28575" anchor="t">
            <a:normAutofit fontScale="885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高光与关系</a:t>
            </a:r>
          </a:p>
        </p:txBody>
      </p:sp>
    </p:spTree>
    <p:extLst>
      <p:ext uri="{BB962C8B-B14F-4D97-AF65-F5344CB8AC3E}">
        <p14:creationId xmlns:p14="http://schemas.microsoft.com/office/powerpoint/2010/main" val="21395627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5">
            <a:extLst xmlns:a="http://schemas.openxmlformats.org/drawingml/2006/main">
              <a:ext uri="{FF2B5EF4-FFF2-40B4-BE49-F238E27FC236}">
                <a16:creationId xmlns:a16="http://schemas.microsoft.com/office/drawing/2014/main" id="{4F2D1AAD-9DB9-4091-9AC8-99FFD0B4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04 / 庄园主循环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4A0511EE-F720-461E-AA70-8D821AC2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五轮经营，把产区知识放进真实取舍</a:t>
            </a: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1C032546-1EFF-4DA7-9837-CAAE02C8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每一次选择都同时改变资金、产量、树体活力、风味潜力与纯净度。 </a:t>
            </a:r>
          </a:p>
        </p:txBody>
      </p:sp>
      <p:sp>
        <p:nvSpPr>
          <p:cNvPr id="4" name="accent-5">
            <a:extLst xmlns:a="http://schemas.openxmlformats.org/drawingml/2006/main">
              <a:ext uri="{FF2B5EF4-FFF2-40B4-BE49-F238E27FC236}">
                <a16:creationId xmlns:a16="http://schemas.microsoft.com/office/drawing/2014/main" id="{FAB7F5A9-A684-4C4C-B144-00845E7E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ine-5">
            <a:extLst xmlns:a="http://schemas.openxmlformats.org/drawingml/2006/main">
              <a:ext uri="{FF2B5EF4-FFF2-40B4-BE49-F238E27FC236}">
                <a16:creationId xmlns:a16="http://schemas.microsoft.com/office/drawing/2014/main" id="{2C00D5D0-7461-497E-989E-CFBDFB76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F39570B8-BC52-413F-932C-11A3A98B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KFTI × 南涧咖啡庄园</a:t>
            </a:r>
          </a:p>
        </p:txBody>
      </p:sp>
      <p:sp>
        <p:nvSpPr>
          <p:cNvPr id="7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E2314441-4B16-48A3-AE8C-EFAE10A0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s5-number">
            <a:extLst xmlns:a="http://schemas.openxmlformats.org/drawingml/2006/main">
              <a:ext uri="{FF2B5EF4-FFF2-40B4-BE49-F238E27FC236}">
                <a16:creationId xmlns:a16="http://schemas.microsoft.com/office/drawing/2014/main" id="{FF7A522F-BFF4-4BB6-9F6C-AE47B906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238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5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690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9" name="s5-number-label">
            <a:extLst xmlns:a="http://schemas.openxmlformats.org/drawingml/2006/main">
              <a:ext uri="{FF2B5EF4-FFF2-40B4-BE49-F238E27FC236}">
                <a16:creationId xmlns:a16="http://schemas.microsoft.com/office/drawing/2014/main" id="{65DDCB1E-6114-4D1A-8B6F-15D266AF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003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个经营阶段</a:t>
            </a:r>
          </a:p>
        </p:txBody>
      </p:sp>
      <p:sp>
        <p:nvSpPr>
          <p:cNvPr id="10" name="s5-stages">
            <a:extLst xmlns:a="http://schemas.openxmlformats.org/drawingml/2006/main">
              <a:ext uri="{FF2B5EF4-FFF2-40B4-BE49-F238E27FC236}">
                <a16:creationId xmlns:a16="http://schemas.microsoft.com/office/drawing/2014/main" id="{2CE275CC-533A-449F-BF82-14CAE44B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rPr>
              <a:t>建园　→　生长　→　开花　→　采收　→　处理</a:t>
            </a:r>
          </a:p>
        </p:txBody>
      </p:sp>
      <p:sp>
        <p:nvSpPr>
          <p:cNvPr id="11" name="s5-stage-rule">
            <a:extLst xmlns:a="http://schemas.openxmlformats.org/drawingml/2006/main">
              <a:ext uri="{FF2B5EF4-FFF2-40B4-BE49-F238E27FC236}">
                <a16:creationId xmlns:a16="http://schemas.microsoft.com/office/drawing/2014/main" id="{8F34110E-F9C6-46A5-A9FB-2C977CAC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5-detail">
            <a:extLst xmlns:a="http://schemas.openxmlformats.org/drawingml/2006/main">
              <a:ext uri="{FF2B5EF4-FFF2-40B4-BE49-F238E27FC236}">
                <a16:creationId xmlns:a16="http://schemas.microsoft.com/office/drawing/2014/main" id="{5B9605F8-744F-44AF-9F87-F53043E9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6381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15 个主线选项围绕海拔与品种、遮阴生态、挂果策略、采收标准和生豆处理展开。玩家看到的是方向性趋势，精确影响在选择后揭晓。</a:t>
            </a:r>
          </a:p>
        </p:txBody>
      </p:sp>
      <p:sp>
        <p:nvSpPr>
          <p:cNvPr id="13" name="s5-resource">
            <a:extLst xmlns:a="http://schemas.openxmlformats.org/drawingml/2006/main">
              <a:ext uri="{FF2B5EF4-FFF2-40B4-BE49-F238E27FC236}">
                <a16:creationId xmlns:a16="http://schemas.microsoft.com/office/drawing/2014/main" id="{C28003DE-30B4-4147-B3DD-D9160F61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43575"/>
            <a:ext cx="638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资金 · 预计产量 · 树体活力 · 风味潜力 · 纯净度</a:t>
            </a:r>
          </a:p>
        </p:txBody>
      </p:sp>
      <p:sp>
        <p:nvSpPr>
          <p:cNvPr id="14" name="estate-choice-shadow">
            <a:extLst xmlns:a="http://schemas.openxmlformats.org/drawingml/2006/main">
              <a:ext uri="{FF2B5EF4-FFF2-40B4-BE49-F238E27FC236}">
                <a16:creationId xmlns:a16="http://schemas.microsoft.com/office/drawing/2014/main" id="{696F666C-B9F3-48F8-9A9A-64B11CDB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952625"/>
            <a:ext cx="3048000" cy="44577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3A2418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5161abc6ce4cce"/>
          <a:stretch xmlns:a="http://schemas.openxmlformats.org/drawingml/2006/main"/>
        </p:blipFill>
        <p:spPr>
          <a:xfrm xmlns:a="http://schemas.openxmlformats.org/drawingml/2006/main">
            <a:off x="8552554" y="1857375"/>
            <a:ext cx="2421143" cy="4457700"/>
          </a:xfrm>
          <a:prstGeom xmlns:a="http://schemas.openxmlformats.org/drawingml/2006/main" prst="roundRect">
            <a:avLst>
              <a:gd name="adj" fmla="val 6250"/>
            </a:avLst>
          </a:prstGeom>
        </p:spPr>
      </p:pic>
    </p:spTree>
    <p:extLst>
      <p:ext uri="{BB962C8B-B14F-4D97-AF65-F5344CB8AC3E}">
        <p14:creationId xmlns:p14="http://schemas.microsoft.com/office/powerpoint/2010/main" val="12850918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6">
            <a:extLst xmlns:a="http://schemas.openxmlformats.org/drawingml/2006/main">
              <a:ext uri="{FF2B5EF4-FFF2-40B4-BE49-F238E27FC236}">
                <a16:creationId xmlns:a16="http://schemas.microsoft.com/office/drawing/2014/main" id="{82B4C619-91F7-41D4-BDAB-E4571C63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05 / 风险与决策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4D0365E1-A6F7-4CF6-9310-A62BFA8D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随机事件让农业经营的风险变得可感知</a:t>
            </a:r>
          </a:p>
        </p:txBody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D221537A-A03A-46B3-887C-773ACF5B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危机与奇遇不是装饰，而是要求玩家在资金、树势和长期品质之间再次取舍。 </a:t>
            </a:r>
          </a:p>
        </p:txBody>
      </p:sp>
      <p:sp>
        <p:nvSpPr>
          <p:cNvPr id="4" name="accent-6">
            <a:extLst xmlns:a="http://schemas.openxmlformats.org/drawingml/2006/main">
              <a:ext uri="{FF2B5EF4-FFF2-40B4-BE49-F238E27FC236}">
                <a16:creationId xmlns:a16="http://schemas.microsoft.com/office/drawing/2014/main" id="{34D4F211-09A4-41CB-B3DE-A5F68E80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ine-6">
            <a:extLst xmlns:a="http://schemas.openxmlformats.org/drawingml/2006/main">
              <a:ext uri="{FF2B5EF4-FFF2-40B4-BE49-F238E27FC236}">
                <a16:creationId xmlns:a16="http://schemas.microsoft.com/office/drawing/2014/main" id="{DD66DFDE-B056-48C3-8174-12BF42A4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357301B0-799F-4841-93F0-8C0F48DA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KFTI × 南涧咖啡庄园</a:t>
            </a:r>
          </a:p>
        </p:txBody>
      </p:sp>
      <p:sp>
        <p:nvSpPr>
          <p:cNvPr id="7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8C83369F-9D4A-4B01-B8BE-474BF3AC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" name="estate-event-shadow">
            <a:extLst xmlns:a="http://schemas.openxmlformats.org/drawingml/2006/main">
              <a:ext uri="{FF2B5EF4-FFF2-40B4-BE49-F238E27FC236}">
                <a16:creationId xmlns:a16="http://schemas.microsoft.com/office/drawing/2014/main" id="{4C51D44C-8DFE-4271-9B3B-C4AACAE2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3571875" cy="4476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3A2418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18c628ff924733"/>
          <a:stretch xmlns:a="http://schemas.openxmlformats.org/drawingml/2006/main"/>
        </p:blipFill>
        <p:spPr>
          <a:xfrm xmlns:a="http://schemas.openxmlformats.org/drawingml/2006/main">
            <a:off x="1276489" y="1857375"/>
            <a:ext cx="2390498" cy="447675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sp>
        <p:nvSpPr>
          <p:cNvPr id="10" name="s6-big">
            <a:extLst xmlns:a="http://schemas.openxmlformats.org/drawingml/2006/main">
              <a:ext uri="{FF2B5EF4-FFF2-40B4-BE49-F238E27FC236}">
                <a16:creationId xmlns:a16="http://schemas.microsoft.com/office/drawing/2014/main" id="{7BFE108E-2A0E-470D-A3E2-24A2F1F6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114550"/>
            <a:ext cx="114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6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85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11" name="s6-big-label">
            <a:extLst xmlns:a="http://schemas.openxmlformats.org/drawingml/2006/main">
              <a:ext uri="{FF2B5EF4-FFF2-40B4-BE49-F238E27FC236}">
                <a16:creationId xmlns:a16="http://schemas.microsoft.com/office/drawing/2014/main" id="{1B9BC72A-DC6C-46A2-9E85-CFFD1FBD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003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个事件池条目</a:t>
            </a:r>
          </a:p>
        </p:txBody>
      </p:sp>
      <p:sp>
        <p:nvSpPr>
          <p:cNvPr id="12" name="s6-body">
            <a:extLst xmlns:a="http://schemas.openxmlformats.org/drawingml/2006/main">
              <a:ext uri="{FF2B5EF4-FFF2-40B4-BE49-F238E27FC236}">
                <a16:creationId xmlns:a16="http://schemas.microsoft.com/office/drawing/2014/main" id="{44DB8AF2-6FF4-4B99-A4FE-4C285E67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19087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前三轮各进行一次随机判定，可能出现风调雨顺、奇遇或危机。每个事件提供三种应对：投入资源解决、接受局部损失，或承担不确定结果。</a:t>
            </a:r>
          </a:p>
        </p:txBody>
      </p:sp>
      <p:sp>
        <p:nvSpPr>
          <p:cNvPr id="13" name="s6-example-title">
            <a:extLst xmlns:a="http://schemas.openxmlformats.org/drawingml/2006/main">
              <a:ext uri="{FF2B5EF4-FFF2-40B4-BE49-F238E27FC236}">
                <a16:creationId xmlns:a16="http://schemas.microsoft.com/office/drawing/2014/main" id="{8BFC298E-5C5A-4928-886A-5F1106FE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196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以“干热春旱”为例</a:t>
            </a:r>
          </a:p>
        </p:txBody>
      </p:sp>
      <p:sp>
        <p:nvSpPr>
          <p:cNvPr id="14" name="s6-example">
            <a:extLst xmlns:a="http://schemas.openxmlformats.org/drawingml/2006/main">
              <a:ext uri="{FF2B5EF4-FFF2-40B4-BE49-F238E27FC236}">
                <a16:creationId xmlns:a16="http://schemas.microsoft.com/office/drawing/2014/main" id="{170F48ED-76DE-49EB-93F1-4DAEF76E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095875"/>
            <a:ext cx="5715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0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铺设滴灌：资金换活力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575" b="0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覆草堆肥：低成本缓解损失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575" b="0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听天由命：零成本，但结果取决于树势</a:t>
            </a:r>
          </a:p>
        </p:txBody>
      </p:sp>
    </p:spTree>
    <p:extLst>
      <p:ext uri="{BB962C8B-B14F-4D97-AF65-F5344CB8AC3E}">
        <p14:creationId xmlns:p14="http://schemas.microsoft.com/office/powerpoint/2010/main" val="6424425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-7">
            <a:extLst xmlns:a="http://schemas.openxmlformats.org/drawingml/2006/main">
              <a:ext uri="{FF2B5EF4-FFF2-40B4-BE49-F238E27FC236}">
                <a16:creationId xmlns:a16="http://schemas.microsoft.com/office/drawing/2014/main" id="{84AE186B-8F60-4576-9B27-2217322D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06 / 反馈闭环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D00D29C1-2207-4AE4-BB17-FCEA2F64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选择最终被翻译成品质、市场与利润</a:t>
            </a:r>
          </a:p>
        </p:txBody>
      </p:sp>
      <p:sp>
        <p:nvSpPr>
          <p:cNvPr id="3" name="subtitle-7">
            <a:extLst xmlns:a="http://schemas.openxmlformats.org/drawingml/2006/main">
              <a:ext uri="{FF2B5EF4-FFF2-40B4-BE49-F238E27FC236}">
                <a16:creationId xmlns:a16="http://schemas.microsoft.com/office/drawing/2014/main" id="{A555F9B7-EDF2-4CB5-BCEC-F08B34C0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从资源变化到标签，从 SCA 与瑕疵率到买家报价，结果始终可追溯到此前的经营取舍。 </a:t>
            </a:r>
          </a:p>
        </p:txBody>
      </p:sp>
      <p:sp>
        <p:nvSpPr>
          <p:cNvPr id="4" name="accent-7">
            <a:extLst xmlns:a="http://schemas.openxmlformats.org/drawingml/2006/main">
              <a:ext uri="{FF2B5EF4-FFF2-40B4-BE49-F238E27FC236}">
                <a16:creationId xmlns:a16="http://schemas.microsoft.com/office/drawing/2014/main" id="{1A6AEB88-FACE-4B2A-A651-E79587BF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ine-7">
            <a:extLst xmlns:a="http://schemas.openxmlformats.org/drawingml/2006/main">
              <a:ext uri="{FF2B5EF4-FFF2-40B4-BE49-F238E27FC236}">
                <a16:creationId xmlns:a16="http://schemas.microsoft.com/office/drawing/2014/main" id="{3ADCE5DC-E96F-4411-9DC4-A0530E0C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33258BA7-8FDD-43E0-80F4-F8776E1B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KFTI × 南涧咖啡庄园</a:t>
            </a:r>
          </a:p>
        </p:txBody>
      </p:sp>
      <p:sp>
        <p:nvSpPr>
          <p:cNvPr id="7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2D6483D1-014D-4E35-9B34-4B2CE03D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" name="round-summary-shadow">
            <a:extLst xmlns:a="http://schemas.openxmlformats.org/drawingml/2006/main">
              <a:ext uri="{FF2B5EF4-FFF2-40B4-BE49-F238E27FC236}">
                <a16:creationId xmlns:a16="http://schemas.microsoft.com/office/drawing/2014/main" id="{215D4BA7-EB9D-49E0-865C-D1975A68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19300"/>
            <a:ext cx="2857500" cy="42100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3A2418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2eb6c2fdb4f53"/>
          <a:stretch xmlns:a="http://schemas.openxmlformats.org/drawingml/2006/main"/>
        </p:blipFill>
        <p:spPr>
          <a:xfrm xmlns:a="http://schemas.openxmlformats.org/drawingml/2006/main">
            <a:off x="819058" y="1924050"/>
            <a:ext cx="2248085" cy="4210050"/>
          </a:xfrm>
          <a:prstGeom xmlns:a="http://schemas.openxmlformats.org/drawingml/2006/main" prst="roundRect">
            <a:avLst>
              <a:gd name="adj" fmla="val 6000"/>
            </a:avLst>
          </a:prstGeom>
        </p:spPr>
      </p:pic>
      <p:sp>
        <p:nvSpPr>
          <p:cNvPr id="10" name="trade-card-shadow">
            <a:extLst xmlns:a="http://schemas.openxmlformats.org/drawingml/2006/main">
              <a:ext uri="{FF2B5EF4-FFF2-40B4-BE49-F238E27FC236}">
                <a16:creationId xmlns:a16="http://schemas.microsoft.com/office/drawing/2014/main" id="{33E98277-D012-4766-921F-4147CD02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019300"/>
            <a:ext cx="2857500" cy="42100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3A2418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1d57b006864e15"/>
          <a:stretch xmlns:a="http://schemas.openxmlformats.org/drawingml/2006/main"/>
        </p:blipFill>
        <p:spPr>
          <a:xfrm xmlns:a="http://schemas.openxmlformats.org/drawingml/2006/main">
            <a:off x="4072513" y="1924050"/>
            <a:ext cx="2237225" cy="4210050"/>
          </a:xfrm>
          <a:prstGeom xmlns:a="http://schemas.openxmlformats.org/drawingml/2006/main" prst="roundRect">
            <a:avLst>
              <a:gd name="adj" fmla="val 6000"/>
            </a:avLst>
          </a:prstGeom>
        </p:spPr>
      </p:pic>
      <p:sp>
        <p:nvSpPr>
          <p:cNvPr id="12" name="s7-num-0">
            <a:extLst xmlns:a="http://schemas.openxmlformats.org/drawingml/2006/main">
              <a:ext uri="{FF2B5EF4-FFF2-40B4-BE49-F238E27FC236}">
                <a16:creationId xmlns:a16="http://schemas.microsoft.com/office/drawing/2014/main" id="{419B256A-A209-4EE7-B776-2E81FC62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76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s7-title-0">
            <a:extLst xmlns:a="http://schemas.openxmlformats.org/drawingml/2006/main">
              <a:ext uri="{FF2B5EF4-FFF2-40B4-BE49-F238E27FC236}">
                <a16:creationId xmlns:a16="http://schemas.microsoft.com/office/drawing/2014/main" id="{8D214F9F-2B3F-4F3B-8FDA-1A492BBA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76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资源与标签</a:t>
            </a:r>
          </a:p>
        </p:txBody>
      </p:sp>
      <p:sp>
        <p:nvSpPr>
          <p:cNvPr id="14" name="s7-desc-0">
            <a:extLst xmlns:a="http://schemas.openxmlformats.org/drawingml/2006/main">
              <a:ext uri="{FF2B5EF4-FFF2-40B4-BE49-F238E27FC236}">
                <a16:creationId xmlns:a16="http://schemas.microsoft.com/office/drawing/2014/main" id="{14556B7B-3993-4B29-809F-47403835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384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记录每轮选择造成的即时变化</a:t>
            </a:r>
          </a:p>
        </p:txBody>
      </p:sp>
      <p:sp>
        <p:nvSpPr>
          <p:cNvPr id="15" name="s7-line-0">
            <a:extLst xmlns:a="http://schemas.openxmlformats.org/drawingml/2006/main">
              <a:ext uri="{FF2B5EF4-FFF2-40B4-BE49-F238E27FC236}">
                <a16:creationId xmlns:a16="http://schemas.microsoft.com/office/drawing/2014/main" id="{2C50515D-F0E0-47FB-BBAE-55DAF6DB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575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7-num-1">
            <a:extLst xmlns:a="http://schemas.openxmlformats.org/drawingml/2006/main">
              <a:ext uri="{FF2B5EF4-FFF2-40B4-BE49-F238E27FC236}">
                <a16:creationId xmlns:a16="http://schemas.microsoft.com/office/drawing/2014/main" id="{A142A236-54F2-46B0-A2E1-C7FD7653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s7-title-1">
            <a:extLst xmlns:a="http://schemas.openxmlformats.org/drawingml/2006/main">
              <a:ext uri="{FF2B5EF4-FFF2-40B4-BE49-F238E27FC236}">
                <a16:creationId xmlns:a16="http://schemas.microsoft.com/office/drawing/2014/main" id="{D6D57CF2-EA47-4305-822F-12F9CE49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289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品质与瑕疵</a:t>
            </a:r>
          </a:p>
        </p:txBody>
      </p:sp>
      <p:sp>
        <p:nvSpPr>
          <p:cNvPr id="18" name="s7-desc-1">
            <a:extLst xmlns:a="http://schemas.openxmlformats.org/drawingml/2006/main">
              <a:ext uri="{FF2B5EF4-FFF2-40B4-BE49-F238E27FC236}">
                <a16:creationId xmlns:a16="http://schemas.microsoft.com/office/drawing/2014/main" id="{B69F5DEA-7A75-47AD-90A7-9B4A812D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909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综合风味潜力、纯净度、活力和标签</a:t>
            </a:r>
          </a:p>
        </p:txBody>
      </p:sp>
      <p:sp>
        <p:nvSpPr>
          <p:cNvPr id="19" name="s7-line-1">
            <a:extLst xmlns:a="http://schemas.openxmlformats.org/drawingml/2006/main">
              <a:ext uri="{FF2B5EF4-FFF2-40B4-BE49-F238E27FC236}">
                <a16:creationId xmlns:a16="http://schemas.microsoft.com/office/drawing/2014/main" id="{D7C24585-C8F3-433B-A468-3D9F9AB8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100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7-num-2">
            <a:extLst xmlns:a="http://schemas.openxmlformats.org/drawingml/2006/main">
              <a:ext uri="{FF2B5EF4-FFF2-40B4-BE49-F238E27FC236}">
                <a16:creationId xmlns:a16="http://schemas.microsoft.com/office/drawing/2014/main" id="{C26F6F97-A0BF-4B4E-94D1-D870A5B7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s7-title-2">
            <a:extLst xmlns:a="http://schemas.openxmlformats.org/drawingml/2006/main">
              <a:ext uri="{FF2B5EF4-FFF2-40B4-BE49-F238E27FC236}">
                <a16:creationId xmlns:a16="http://schemas.microsoft.com/office/drawing/2014/main" id="{B142E1E9-D47F-40C7-8F6D-A94D067E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81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买家与单价</a:t>
            </a:r>
          </a:p>
        </p:txBody>
      </p:sp>
      <p:sp>
        <p:nvSpPr>
          <p:cNvPr id="22" name="s7-desc-2">
            <a:extLst xmlns:a="http://schemas.openxmlformats.org/drawingml/2006/main">
              <a:ext uri="{FF2B5EF4-FFF2-40B4-BE49-F238E27FC236}">
                <a16:creationId xmlns:a16="http://schemas.microsoft.com/office/drawing/2014/main" id="{949C03BE-9AF6-476D-A9AC-B73962AA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434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根据 SCA、处理法和生态认证匹配市场</a:t>
            </a:r>
          </a:p>
        </p:txBody>
      </p:sp>
      <p:sp>
        <p:nvSpPr>
          <p:cNvPr id="23" name="s7-line-2">
            <a:extLst xmlns:a="http://schemas.openxmlformats.org/drawingml/2006/main">
              <a:ext uri="{FF2B5EF4-FFF2-40B4-BE49-F238E27FC236}">
                <a16:creationId xmlns:a16="http://schemas.microsoft.com/office/drawing/2014/main" id="{9746287E-EC2F-4131-9DF0-1C651BCD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625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7-num-3">
            <a:extLst xmlns:a="http://schemas.openxmlformats.org/drawingml/2006/main">
              <a:ext uri="{FF2B5EF4-FFF2-40B4-BE49-F238E27FC236}">
                <a16:creationId xmlns:a16="http://schemas.microsoft.com/office/drawing/2014/main" id="{CD969F4D-4365-46DF-B5FF-802D86F3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33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s7-title-3">
            <a:extLst xmlns:a="http://schemas.openxmlformats.org/drawingml/2006/main">
              <a:ext uri="{FF2B5EF4-FFF2-40B4-BE49-F238E27FC236}">
                <a16:creationId xmlns:a16="http://schemas.microsoft.com/office/drawing/2014/main" id="{26041A25-4E7D-4A06-B386-F7DA68E5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339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营收与净利润</a:t>
            </a:r>
          </a:p>
        </p:txBody>
      </p:sp>
      <p:sp>
        <p:nvSpPr>
          <p:cNvPr id="26" name="s7-desc-3">
            <a:extLst xmlns:a="http://schemas.openxmlformats.org/drawingml/2006/main">
              <a:ext uri="{FF2B5EF4-FFF2-40B4-BE49-F238E27FC236}">
                <a16:creationId xmlns:a16="http://schemas.microsoft.com/office/drawing/2014/main" id="{A2481468-55C5-4D31-953A-8303A1D6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959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扣除成本、折旧与负债后形成最终成绩</a:t>
            </a:r>
          </a:p>
        </p:txBody>
      </p:sp>
      <p:sp>
        <p:nvSpPr>
          <p:cNvPr id="27" name="s7-end">
            <a:extLst xmlns:a="http://schemas.openxmlformats.org/drawingml/2006/main">
              <a:ext uri="{FF2B5EF4-FFF2-40B4-BE49-F238E27FC236}">
                <a16:creationId xmlns:a16="http://schemas.microsoft.com/office/drawing/2014/main" id="{AE1C05D9-B85F-4563-899A-B8BEFAAF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905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rPr>
              <a:t>一局经营，形成一条完整的因果链。</a:t>
            </a:r>
          </a:p>
        </p:txBody>
      </p:sp>
    </p:spTree>
    <p:extLst>
      <p:ext uri="{BB962C8B-B14F-4D97-AF65-F5344CB8AC3E}">
        <p14:creationId xmlns:p14="http://schemas.microsoft.com/office/powerpoint/2010/main" val="18688271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8">
            <a:extLst xmlns:a="http://schemas.openxmlformats.org/drawingml/2006/main">
              <a:ext uri="{FF2B5EF4-FFF2-40B4-BE49-F238E27FC236}">
                <a16:creationId xmlns:a16="http://schemas.microsoft.com/office/drawing/2014/main" id="{D0AE2EA1-C455-4833-B543-DB4D9F39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07 / 可复玩与验证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65136C5F-6BD7-48C1-8C31-4C150BCC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榜单把单局结果变成可比较、可复盘的反馈</a:t>
            </a:r>
          </a:p>
        </p:txBody>
      </p:sp>
      <p:sp>
        <p:nvSpPr>
          <p:cNvPr id="3" name="subtitle-8">
            <a:extLst xmlns:a="http://schemas.openxmlformats.org/drawingml/2006/main">
              <a:ext uri="{FF2B5EF4-FFF2-40B4-BE49-F238E27FC236}">
                <a16:creationId xmlns:a16="http://schemas.microsoft.com/office/drawing/2014/main" id="{2A7A29E1-2534-421B-81BB-37466B5C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每位庄园主只保留净利润最高的一局，鼓励玩家重走路线并理解差异。 </a:t>
            </a:r>
          </a:p>
        </p:txBody>
      </p:sp>
      <p:sp>
        <p:nvSpPr>
          <p:cNvPr id="4" name="accent-8">
            <a:extLst xmlns:a="http://schemas.openxmlformats.org/drawingml/2006/main">
              <a:ext uri="{FF2B5EF4-FFF2-40B4-BE49-F238E27FC236}">
                <a16:creationId xmlns:a16="http://schemas.microsoft.com/office/drawing/2014/main" id="{2EF1EDFB-1D3C-425E-84CB-37400F71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ine-8">
            <a:extLst xmlns:a="http://schemas.openxmlformats.org/drawingml/2006/main">
              <a:ext uri="{FF2B5EF4-FFF2-40B4-BE49-F238E27FC236}">
                <a16:creationId xmlns:a16="http://schemas.microsoft.com/office/drawing/2014/main" id="{93DD6E8B-48B4-4893-A991-8B55AC4D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3C3F5811-CD87-480E-9F48-A3AC945B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KFTI × 南涧咖啡庄园</a:t>
            </a:r>
          </a:p>
        </p:txBody>
      </p:sp>
      <p:sp>
        <p:nvSpPr>
          <p:cNvPr id="7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B69067EE-25C2-4D3B-911E-4D19DEC9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" name="s8-claim">
            <a:extLst xmlns:a="http://schemas.openxmlformats.org/drawingml/2006/main">
              <a:ext uri="{FF2B5EF4-FFF2-40B4-BE49-F238E27FC236}">
                <a16:creationId xmlns:a16="http://schemas.microsoft.com/office/drawing/2014/main" id="{50C64CDA-CA70-4172-A080-2D2F0D37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产品已经形成可运行、可验证的闭环</a:t>
            </a:r>
          </a:p>
        </p:txBody>
      </p:sp>
      <p:sp>
        <p:nvSpPr>
          <p:cNvPr id="9" name="s8-point-title-0">
            <a:extLst xmlns:a="http://schemas.openxmlformats.org/drawingml/2006/main">
              <a:ext uri="{FF2B5EF4-FFF2-40B4-BE49-F238E27FC236}">
                <a16:creationId xmlns:a16="http://schemas.microsoft.com/office/drawing/2014/main" id="{0CD63267-1067-43C1-A1F6-D1612343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刷新续玩</a:t>
            </a:r>
          </a:p>
        </p:txBody>
      </p:sp>
      <p:sp>
        <p:nvSpPr>
          <p:cNvPr id="10" name="s8-point-desc-0">
            <a:extLst xmlns:a="http://schemas.openxmlformats.org/drawingml/2006/main">
              <a:ext uri="{FF2B5EF4-FFF2-40B4-BE49-F238E27FC236}">
                <a16:creationId xmlns:a16="http://schemas.microsoft.com/office/drawing/2014/main" id="{0F611B36-B348-4286-A288-CBF5DAE8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5275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当前对局、待处理弹窗和选择日志均可恢复</a:t>
            </a:r>
          </a:p>
        </p:txBody>
      </p:sp>
      <p:sp>
        <p:nvSpPr>
          <p:cNvPr id="11" name="s8-sep-0">
            <a:extLst xmlns:a="http://schemas.openxmlformats.org/drawingml/2006/main">
              <a:ext uri="{FF2B5EF4-FFF2-40B4-BE49-F238E27FC236}">
                <a16:creationId xmlns:a16="http://schemas.microsoft.com/office/drawing/2014/main" id="{252F4667-9E5D-4889-8356-862881D1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8-point-title-1">
            <a:extLst xmlns:a="http://schemas.openxmlformats.org/drawingml/2006/main">
              <a:ext uri="{FF2B5EF4-FFF2-40B4-BE49-F238E27FC236}">
                <a16:creationId xmlns:a16="http://schemas.microsoft.com/office/drawing/2014/main" id="{433FD81F-691D-41A8-B1FE-C487E5C1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规则回归</a:t>
            </a:r>
          </a:p>
        </p:txBody>
      </p:sp>
      <p:sp>
        <p:nvSpPr>
          <p:cNvPr id="13" name="s8-point-desc-1">
            <a:extLst xmlns:a="http://schemas.openxmlformats.org/drawingml/2006/main">
              <a:ext uri="{FF2B5EF4-FFF2-40B4-BE49-F238E27FC236}">
                <a16:creationId xmlns:a16="http://schemas.microsoft.com/office/drawing/2014/main" id="{0839E5D0-0E2A-4F3A-A93D-ABDBC97B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9570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核心数值、标签、免疫与结算规则由自动测试覆盖</a:t>
            </a:r>
          </a:p>
        </p:txBody>
      </p:sp>
      <p:sp>
        <p:nvSpPr>
          <p:cNvPr id="14" name="s8-sep-1">
            <a:extLst xmlns:a="http://schemas.openxmlformats.org/drawingml/2006/main">
              <a:ext uri="{FF2B5EF4-FFF2-40B4-BE49-F238E27FC236}">
                <a16:creationId xmlns:a16="http://schemas.microsoft.com/office/drawing/2014/main" id="{D45DC575-AAE6-4736-8BC0-29019451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8-point-title-2">
            <a:extLst xmlns:a="http://schemas.openxmlformats.org/drawingml/2006/main">
              <a:ext uri="{FF2B5EF4-FFF2-40B4-BE49-F238E27FC236}">
                <a16:creationId xmlns:a16="http://schemas.microsoft.com/office/drawing/2014/main" id="{278ECE89-0836-4AD4-BAB4-BF384612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数值模拟</a:t>
            </a:r>
          </a:p>
        </p:txBody>
      </p:sp>
      <p:sp>
        <p:nvSpPr>
          <p:cNvPr id="16" name="s8-point-desc-2">
            <a:extLst xmlns:a="http://schemas.openxmlformats.org/drawingml/2006/main">
              <a:ext uri="{FF2B5EF4-FFF2-40B4-BE49-F238E27FC236}">
                <a16:creationId xmlns:a16="http://schemas.microsoft.com/office/drawing/2014/main" id="{1E07452E-E2DE-40A8-BD44-33B4F2B1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3865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Monte Carlo 可批量运行 100,000 局观察分布</a:t>
            </a:r>
          </a:p>
        </p:txBody>
      </p:sp>
      <p:sp>
        <p:nvSpPr>
          <p:cNvPr id="17" name="s8-sep-2">
            <a:extLst xmlns:a="http://schemas.openxmlformats.org/drawingml/2006/main">
              <a:ext uri="{FF2B5EF4-FFF2-40B4-BE49-F238E27FC236}">
                <a16:creationId xmlns:a16="http://schemas.microsoft.com/office/drawing/2014/main" id="{409CBA0A-C90F-4D31-99E8-1BAE13DA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8-point-title-3">
            <a:extLst xmlns:a="http://schemas.openxmlformats.org/drawingml/2006/main">
              <a:ext uri="{FF2B5EF4-FFF2-40B4-BE49-F238E27FC236}">
                <a16:creationId xmlns:a16="http://schemas.microsoft.com/office/drawing/2014/main" id="{3456123A-4524-4E22-BCF5-FBCD2FA0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816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榜单反馈</a:t>
            </a:r>
          </a:p>
        </p:txBody>
      </p:sp>
      <p:sp>
        <p:nvSpPr>
          <p:cNvPr id="19" name="s8-point-desc-3">
            <a:extLst xmlns:a="http://schemas.openxmlformats.org/drawingml/2006/main">
              <a:ext uri="{FF2B5EF4-FFF2-40B4-BE49-F238E27FC236}">
                <a16:creationId xmlns:a16="http://schemas.microsoft.com/office/drawing/2014/main" id="{CB78054A-6448-478E-A690-0D4520DA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18160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本地历史保留个人最佳局，并展示利润与 SCA</a:t>
            </a:r>
          </a:p>
        </p:txBody>
      </p:sp>
      <p:sp>
        <p:nvSpPr>
          <p:cNvPr id="20" name="ranking-shadow">
            <a:extLst xmlns:a="http://schemas.openxmlformats.org/drawingml/2006/main">
              <a:ext uri="{FF2B5EF4-FFF2-40B4-BE49-F238E27FC236}">
                <a16:creationId xmlns:a16="http://schemas.microsoft.com/office/drawing/2014/main" id="{F56FAB6B-7EB4-4297-8BEF-39248F44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05000"/>
            <a:ext cx="3333750" cy="447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3A2418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22d752501a4f33"/>
          <a:stretch xmlns:a="http://schemas.openxmlformats.org/drawingml/2006/main"/>
        </p:blipFill>
        <p:spPr>
          <a:xfrm xmlns:a="http://schemas.openxmlformats.org/drawingml/2006/main">
            <a:off x="8291970" y="1809750"/>
            <a:ext cx="2370810" cy="447675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</p:spTree>
    <p:extLst>
      <p:ext uri="{BB962C8B-B14F-4D97-AF65-F5344CB8AC3E}">
        <p14:creationId xmlns:p14="http://schemas.microsoft.com/office/powerpoint/2010/main" val="40494019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db9130b0c04197"/>
          <a:srcRect xmlns:a="http://schemas.openxmlformats.org/drawingml/2006/main" l="0" t="10625" r="0" b="10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final-paper-overlay">
            <a:extLst xmlns:a="http://schemas.openxmlformats.org/drawingml/2006/main">
              <a:ext uri="{FF2B5EF4-FFF2-40B4-BE49-F238E27FC236}">
                <a16:creationId xmlns:a16="http://schemas.microsoft.com/office/drawing/2014/main" id="{88FB5CBA-7036-4AE0-BD13-DA1AAF13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4">
              <a:alpha val="8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9-kicker">
            <a:extLst xmlns:a="http://schemas.openxmlformats.org/drawingml/2006/main">
              <a:ext uri="{FF2B5EF4-FFF2-40B4-BE49-F238E27FC236}">
                <a16:creationId xmlns:a16="http://schemas.microsoft.com/office/drawing/2014/main" id="{5CFD8E9F-D01A-4602-8BD5-ED70CA32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PROJECT SYNTHESIS</a:t>
            </a:r>
          </a:p>
        </p:txBody>
      </p:sp>
      <p:sp>
        <p:nvSpPr>
          <p:cNvPr id="4" name="s9-title">
            <a:extLst xmlns:a="http://schemas.openxmlformats.org/drawingml/2006/main">
              <a:ext uri="{FF2B5EF4-FFF2-40B4-BE49-F238E27FC236}">
                <a16:creationId xmlns:a16="http://schemas.microsoft.com/office/drawing/2014/main" id="{B2B58000-93CB-4798-86B1-E920511F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914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我们交付的不是两套页面，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而是一条完整的咖啡认知路径</a:t>
            </a:r>
          </a:p>
        </p:txBody>
      </p:sp>
      <p:sp>
        <p:nvSpPr>
          <p:cNvPr id="5" name="s9-rule">
            <a:extLst xmlns:a="http://schemas.openxmlformats.org/drawingml/2006/main">
              <a:ext uri="{FF2B5EF4-FFF2-40B4-BE49-F238E27FC236}">
                <a16:creationId xmlns:a16="http://schemas.microsoft.com/office/drawing/2014/main" id="{15B1EBFB-D41C-4BD7-82D0-BC4EE652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9-verb-0">
            <a:extLst xmlns:a="http://schemas.openxmlformats.org/drawingml/2006/main">
              <a:ext uri="{FF2B5EF4-FFF2-40B4-BE49-F238E27FC236}">
                <a16:creationId xmlns:a16="http://schemas.microsoft.com/office/drawing/2014/main" id="{03DD7AEF-0212-40BB-B152-EA44552F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rPr>
              <a:t>认识自己</a:t>
            </a:r>
          </a:p>
        </p:txBody>
      </p:sp>
      <p:sp>
        <p:nvSpPr>
          <p:cNvPr id="7" name="s9-arrow-0">
            <a:extLst xmlns:a="http://schemas.openxmlformats.org/drawingml/2006/main">
              <a:ext uri="{FF2B5EF4-FFF2-40B4-BE49-F238E27FC236}">
                <a16:creationId xmlns:a16="http://schemas.microsoft.com/office/drawing/2014/main" id="{EEFB892E-851C-4ACE-9C13-45BE8F3B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242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CBB5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BB59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s9-verb-1">
            <a:extLst xmlns:a="http://schemas.openxmlformats.org/drawingml/2006/main">
              <a:ext uri="{FF2B5EF4-FFF2-40B4-BE49-F238E27FC236}">
                <a16:creationId xmlns:a16="http://schemas.microsoft.com/office/drawing/2014/main" id="{8690CAE2-1D2A-4000-8C7B-A5552A23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051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rPr>
              <a:t>理解产区</a:t>
            </a:r>
          </a:p>
        </p:txBody>
      </p:sp>
      <p:sp>
        <p:nvSpPr>
          <p:cNvPr id="9" name="s9-arrow-1">
            <a:extLst xmlns:a="http://schemas.openxmlformats.org/drawingml/2006/main">
              <a:ext uri="{FF2B5EF4-FFF2-40B4-BE49-F238E27FC236}">
                <a16:creationId xmlns:a16="http://schemas.microsoft.com/office/drawing/2014/main" id="{5BF61B8A-BE03-48C9-A306-62EC4A2E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1242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CBB5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BB59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s9-verb-2">
            <a:extLst xmlns:a="http://schemas.openxmlformats.org/drawingml/2006/main">
              <a:ext uri="{FF2B5EF4-FFF2-40B4-BE49-F238E27FC236}">
                <a16:creationId xmlns:a16="http://schemas.microsoft.com/office/drawing/2014/main" id="{702849B5-5B52-44F8-A16D-192140B7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051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承担决策</a:t>
            </a:r>
          </a:p>
        </p:txBody>
      </p:sp>
      <p:sp>
        <p:nvSpPr>
          <p:cNvPr id="11" name="s9-arrow-2">
            <a:extLst xmlns:a="http://schemas.openxmlformats.org/drawingml/2006/main">
              <a:ext uri="{FF2B5EF4-FFF2-40B4-BE49-F238E27FC236}">
                <a16:creationId xmlns:a16="http://schemas.microsoft.com/office/drawing/2014/main" id="{6421299D-853D-40A5-95FB-01412B62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242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CBB5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BB59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s9-verb-3">
            <a:extLst xmlns:a="http://schemas.openxmlformats.org/drawingml/2006/main">
              <a:ext uri="{FF2B5EF4-FFF2-40B4-BE49-F238E27FC236}">
                <a16:creationId xmlns:a16="http://schemas.microsoft.com/office/drawing/2014/main" id="{F90F8D5D-E3C2-4FB5-BD90-23AA6864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051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看见结果</a:t>
            </a:r>
          </a:p>
        </p:txBody>
      </p:sp>
      <p:sp>
        <p:nvSpPr>
          <p:cNvPr id="13" name="s9-next-title">
            <a:extLst xmlns:a="http://schemas.openxmlformats.org/drawingml/2006/main">
              <a:ext uri="{FF2B5EF4-FFF2-40B4-BE49-F238E27FC236}">
                <a16:creationId xmlns:a16="http://schemas.microsoft.com/office/drawing/2014/main" id="{9C07A08E-C144-4743-8B7D-09C8C2DF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386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下一步，让两段体验真正连起来</a:t>
            </a:r>
          </a:p>
        </p:txBody>
      </p:sp>
      <p:sp>
        <p:nvSpPr>
          <p:cNvPr id="14" name="s9-next">
            <a:extLst xmlns:a="http://schemas.openxmlformats.org/drawingml/2006/main">
              <a:ext uri="{FF2B5EF4-FFF2-40B4-BE49-F238E27FC236}">
                <a16:creationId xmlns:a16="http://schemas.microsoft.com/office/drawing/2014/main" id="{EBF04FF2-6909-41CC-B892-B798B2FF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KFTI 结果联动庄园首轮路线推荐　·　统一身份与可分享结果报告　·　完成服务端权威复算与公开榜单</a:t>
            </a:r>
          </a:p>
        </p:txBody>
      </p:sp>
      <p:sp>
        <p:nvSpPr>
          <p:cNvPr id="15" name="s9-close">
            <a:extLst xmlns:a="http://schemas.openxmlformats.org/drawingml/2006/main">
              <a:ext uri="{FF2B5EF4-FFF2-40B4-BE49-F238E27FC236}">
                <a16:creationId xmlns:a16="http://schemas.microsoft.com/office/drawing/2014/main" id="{1EED118C-87DD-4AB6-AC8D-D9A5D698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53125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rPr>
              <a:t>让每一次喝咖啡，都成为理解风味与土地的开始。</a:t>
            </a:r>
          </a:p>
        </p:txBody>
      </p:sp>
    </p:spTree>
    <p:extLst>
      <p:ext uri="{BB962C8B-B14F-4D97-AF65-F5344CB8AC3E}">
        <p14:creationId xmlns:p14="http://schemas.microsoft.com/office/powerpoint/2010/main" val="21171522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2026-08-29T11:28:56.5000000Z</dcterms:created>
  <dcterms:modified xsi:type="dcterms:W3CDTF">2026-08-29T11:28:56.5000000Z</dcterms:modified>
</coreProperties>
</file>