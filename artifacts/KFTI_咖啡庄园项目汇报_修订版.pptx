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开场先强调：这不是两个孤立页面，而是围绕咖啡认知设计的两段连续体验。</a:t>
            </a:r>
          </a:p>
          <a:p>
            <a:endParaRPr/>
          </a:p>
          <a:p>
            <a:r>
              <a:t>[Sources]</a:t>
            </a:r>
          </a:p>
          <a:p>
            <a:r>
              <a:t>- frontend/assets/images/stages/mainpage_phase1_middle_picture.png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这一页单独展示两个小游戏的入口：首页视觉不同，但都以轻量、移动端和咖啡文化为共同体验基础。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PPT图片/KFTI_page.png</a:t>
            </a:r>
          </a:p>
          <a:p>
            <a:r>
              <a:t>- PPT图片/page.png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这一页建立整体框架：KFTI负责降低理解门槛，庄园负责把知识变成决策，两者共同完成从偏好到产区的认知链。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PPT图片/KFTI_page.png</a:t>
            </a:r>
          </a:p>
          <a:p>
            <a:r>
              <a:t>- PPT图片/page.png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KFTI 的信息设计重点是：先让用户回答熟悉的情境，再在结果页解释咖啡偏好的含义，降低专业术语的进入门槛。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PPT图片/KFTI_choice.png</a:t>
            </a:r>
          </a:p>
          <a:p>
            <a:r>
              <a:t>- PPT图片/KFTI_result_2.png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MRXA“层次探索家”为例，结果页同时回答‘我是谁、我偏好什么、可以喝什么、为什么会这样’，把一次测试变成后续探索入口。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PPT图片/KFTI_result_1.png</a:t>
            </a:r>
          </a:p>
          <a:p>
            <a:r>
              <a:t>- PPT图片/KFTI_result_2.png</a:t>
            </a:r>
          </a:p>
          <a:p>
            <a:r>
              <a:t>- PPT图片/KFTI_result_3.png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庄园端的核心不是记知识点，而是理解变量之间的耦合：高风味往往意味着更高成本、更慢生长或更低产量。</a:t>
            </a:r>
          </a:p>
          <a:p>
            <a:endParaRPr/>
          </a:p>
          <a:p>
            <a:r>
              <a:t>[Sources]</a:t>
            </a:r>
          </a:p>
          <a:p>
            <a:r>
              <a:t>- PPT图片/choice.png</a:t>
            </a:r>
          </a:p>
          <a:p>
            <a:r>
              <a:t>- README.md</a:t>
            </a:r>
          </a:p>
          <a:p>
            <a:r>
              <a:t>- frontend/js/game/rounds.js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事件系统把气候、病虫害、劳动力与乡土互助等因素转化为玩家可以理解的经营压力。</a:t>
            </a:r>
          </a:p>
          <a:p>
            <a:endParaRPr/>
          </a:p>
          <a:p>
            <a:r>
              <a:t>[Sources]</a:t>
            </a:r>
          </a:p>
          <a:p>
            <a:r>
              <a:t>- PPT图片/accident.png</a:t>
            </a:r>
          </a:p>
          <a:p>
            <a:r>
              <a:t>- README.md</a:t>
            </a:r>
          </a:p>
          <a:p>
            <a:r>
              <a:t>- frontend/js/game/events.js</a:t>
            </a:r>
          </a:p>
          <a:p>
            <a:r>
              <a:t>- frontend/js/game/engine.js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这一页强调系统的可解释性：玩家不仅看到一个分数，还能看到每轮资源、标签、买家、单价与净利润是如何形成的。</a:t>
            </a:r>
          </a:p>
          <a:p>
            <a:endParaRPr/>
          </a:p>
          <a:p>
            <a:r>
              <a:t>[Sources]</a:t>
            </a:r>
          </a:p>
          <a:p>
            <a:r>
              <a:t>- PPT图片/summary.png</a:t>
            </a:r>
          </a:p>
          <a:p>
            <a:r>
              <a:t>- PPT图片/trading_card.png</a:t>
            </a:r>
          </a:p>
          <a:p>
            <a:r>
              <a:t>- README.md</a:t>
            </a:r>
          </a:p>
          <a:p>
            <a:r>
              <a:t>- frontend/js/game/settlement.js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除玩法闭环外，庄园端还提供刷新续玩、自动测试与数值模拟，使演示版本具备继续迭代的工程基础。</a:t>
            </a:r>
          </a:p>
          <a:p>
            <a:endParaRPr/>
          </a:p>
          <a:p>
            <a:r>
              <a:t>[Sources]</a:t>
            </a:r>
          </a:p>
          <a:p>
            <a:r>
              <a:t>- PPT图片/ranking.png</a:t>
            </a:r>
          </a:p>
          <a:p>
            <a:r>
              <a:t>- README.md</a:t>
            </a:r>
          </a:p>
          <a:p>
            <a:r>
              <a:t>- tests/game.test.js</a:t>
            </a:r>
          </a:p>
          <a:p>
            <a:r>
              <a:t>- scripts/simulation.js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收束时回到开场：KFTI帮助用户找到自己的入口，庄园让用户理解一杯咖啡背后的土地与经营。下一步重点是把两段体验通过推荐、身份与分享机制连成完整产品。</a:t>
            </a:r>
          </a:p>
          <a:p>
            <a:endParaRPr/>
          </a:p>
          <a:p>
            <a:r>
              <a:t>[Sources]</a:t>
            </a:r>
          </a:p>
          <a:p>
            <a:r>
              <a:t>- frontend/assets/images/stages/mainpage_phase5_middle_picture.png</a:t>
            </a:r>
          </a:p>
          <a:p>
            <a:r>
              <a:t>- README.md</a:t>
            </a:r>
          </a:p>
          <a:p>
            <a:r>
              <a:t>- PPT图片目录内全部用户提供截图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rail">
            <a:extLst>
              <a:ext uri="{FF2B5EF4-FFF2-40B4-BE49-F238E27FC236}">
                <a16:creationId xmlns:a16="http://schemas.microsoft.com/office/drawing/2014/main" id="{96B45499-9292-410F-B9DD-9B6832F4B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3F27"/>
          </a:solidFill>
          <a:ln w="0">
            <a:noFill/>
            <a:prstDash val="solid"/>
          </a:ln>
        </p:spPr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2D1A91CD-9B71-49D8-93D5-AD9BD1C108B7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INTERACTIVE COFFEE EXPERIENCE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6366D6AC-4332-4DBF-B8B0-7E0A5B13E166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6096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KFTI ×</a:t>
            </a:r>
          </a:p>
          <a:p>
            <a:pPr algn="l">
              <a:lnSpc>
                <a:spcPct val="100000"/>
              </a:lnSpc>
              <a:buNone/>
              <a:defRPr sz="5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南涧咖啡庄园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58D5761A-034B-45E9-9D28-736AAC41E511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80"/>
          </a:bodyPr>
          <a:lstStyle/>
          <a:p>
            <a:pPr algn="l">
              <a:lnSpc>
                <a:spcPct val="120000"/>
              </a:lnSpc>
              <a:buNone/>
              <a:defRPr sz="24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从认识自己的咖啡偏好，到经营一座山地庄园</a:t>
            </a:r>
          </a:p>
        </p:txBody>
      </p:sp>
      <p:sp>
        <p:nvSpPr>
          <p:cNvPr id="5" name="cover-rule">
            <a:extLst>
              <a:ext uri="{FF2B5EF4-FFF2-40B4-BE49-F238E27FC236}">
                <a16:creationId xmlns:a16="http://schemas.microsoft.com/office/drawing/2014/main" id="{498171CB-6AA6-4656-B7C3-70C8F55AFD7D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1123950" cy="47625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89FBFBB4-629E-466E-8B8F-5D94E1F9A865}"/>
              </a:ext>
            </a:extLst>
          </p:cNvPr>
          <p:cNvSpPr>
            <a:spLocks noGrp="1"/>
          </p:cNvSpPr>
          <p:nvPr/>
        </p:nvSpPr>
        <p:spPr>
          <a:xfrm>
            <a:off x="819150" y="5095875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项目汇报 · 互动测试 × 经营模拟</a:t>
            </a:r>
          </a:p>
        </p:txBody>
      </p:sp>
      <p:sp>
        <p:nvSpPr>
          <p:cNvPr id="7" name="cover-landscape-shadow">
            <a:extLst>
              <a:ext uri="{FF2B5EF4-FFF2-40B4-BE49-F238E27FC236}">
                <a16:creationId xmlns:a16="http://schemas.microsoft.com/office/drawing/2014/main" id="{AE361E25-6DE0-4837-8414-43A0E11C778E}"/>
              </a:ext>
            </a:extLst>
          </p:cNvPr>
          <p:cNvSpPr>
            <a:spLocks noGrp="1"/>
          </p:cNvSpPr>
          <p:nvPr/>
        </p:nvSpPr>
        <p:spPr>
          <a:xfrm>
            <a:off x="7600950" y="762000"/>
            <a:ext cx="3905250" cy="5524500"/>
          </a:xfrm>
          <a:prstGeom prst="roundRect">
            <a:avLst>
              <a:gd name="adj" fmla="val 6341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23491" r="23491"/>
          <a:stretch>
            <a:fillRect/>
          </a:stretch>
        </p:blipFill>
        <p:spPr>
          <a:xfrm>
            <a:off x="7524750" y="666750"/>
            <a:ext cx="3905250" cy="5524500"/>
          </a:xfrm>
          <a:prstGeom prst="roundRect">
            <a:avLst>
              <a:gd name="adj" fmla="val 6341"/>
            </a:avLst>
          </a:prstGeom>
        </p:spPr>
      </p:pic>
    </p:spTree>
    <p:extLst>
      <p:ext uri="{BB962C8B-B14F-4D97-AF65-F5344CB8AC3E}">
        <p14:creationId xmlns:p14="http://schemas.microsoft.com/office/powerpoint/2010/main" val="57059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-2">
            <a:extLst>
              <a:ext uri="{FF2B5EF4-FFF2-40B4-BE49-F238E27FC236}">
                <a16:creationId xmlns:a16="http://schemas.microsoft.com/office/drawing/2014/main" id="{BCF5F5FE-58DE-4552-954F-C4D6510192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项目界面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647911AD-D840-4444-8F7D-50AC4711DFD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两个小游戏，从不同入口走近咖啡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C31358AB-1F89-47E1-A372-20E3C459FFB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从个人偏好出发，南涧咖啡庄园从产区经营出发。 </a:t>
            </a:r>
          </a:p>
        </p:txBody>
      </p:sp>
      <p:sp>
        <p:nvSpPr>
          <p:cNvPr id="4" name="accent-2">
            <a:extLst>
              <a:ext uri="{FF2B5EF4-FFF2-40B4-BE49-F238E27FC236}">
                <a16:creationId xmlns:a16="http://schemas.microsoft.com/office/drawing/2014/main" id="{62B25E00-4ABE-40D8-9ACB-6309721E8298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2">
            <a:extLst>
              <a:ext uri="{FF2B5EF4-FFF2-40B4-BE49-F238E27FC236}">
                <a16:creationId xmlns:a16="http://schemas.microsoft.com/office/drawing/2014/main" id="{CA1FCD7B-35E7-4517-9DA4-FBD602D8AB13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2">
            <a:extLst>
              <a:ext uri="{FF2B5EF4-FFF2-40B4-BE49-F238E27FC236}">
                <a16:creationId xmlns:a16="http://schemas.microsoft.com/office/drawing/2014/main" id="{6C31D9A4-9DB7-4ECD-AE9E-07826D55C03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2">
            <a:extLst>
              <a:ext uri="{FF2B5EF4-FFF2-40B4-BE49-F238E27FC236}">
                <a16:creationId xmlns:a16="http://schemas.microsoft.com/office/drawing/2014/main" id="{71285999-5F45-4B75-B712-C3679B928EAE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home-kfti-shadow">
            <a:extLst>
              <a:ext uri="{FF2B5EF4-FFF2-40B4-BE49-F238E27FC236}">
                <a16:creationId xmlns:a16="http://schemas.microsoft.com/office/drawing/2014/main" id="{99C3B480-5EB9-4FEC-93F5-C8D1114C43C2}"/>
              </a:ext>
            </a:extLst>
          </p:cNvPr>
          <p:cNvSpPr>
            <a:spLocks noGrp="1"/>
          </p:cNvSpPr>
          <p:nvPr/>
        </p:nvSpPr>
        <p:spPr>
          <a:xfrm>
            <a:off x="1143000" y="2047875"/>
            <a:ext cx="2952750" cy="4191000"/>
          </a:xfrm>
          <a:prstGeom prst="roundRect">
            <a:avLst>
              <a:gd name="adj" fmla="val 7097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8813" y="1952625"/>
            <a:ext cx="2188723" cy="4191000"/>
          </a:xfrm>
          <a:prstGeom prst="roundRect">
            <a:avLst>
              <a:gd name="adj" fmla="val 7097"/>
            </a:avLst>
          </a:prstGeom>
        </p:spPr>
      </p:pic>
      <p:sp>
        <p:nvSpPr>
          <p:cNvPr id="10" name="home-estate-shadow">
            <a:extLst>
              <a:ext uri="{FF2B5EF4-FFF2-40B4-BE49-F238E27FC236}">
                <a16:creationId xmlns:a16="http://schemas.microsoft.com/office/drawing/2014/main" id="{68569591-B855-4A31-9ECC-77BEFA896FA0}"/>
              </a:ext>
            </a:extLst>
          </p:cNvPr>
          <p:cNvSpPr>
            <a:spLocks noGrp="1"/>
          </p:cNvSpPr>
          <p:nvPr/>
        </p:nvSpPr>
        <p:spPr>
          <a:xfrm>
            <a:off x="8248650" y="2047875"/>
            <a:ext cx="2952750" cy="4191000"/>
          </a:xfrm>
          <a:prstGeom prst="roundRect">
            <a:avLst>
              <a:gd name="adj" fmla="val 7097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28922" y="1952625"/>
            <a:ext cx="2239807" cy="4191000"/>
          </a:xfrm>
          <a:prstGeom prst="roundRect">
            <a:avLst>
              <a:gd name="adj" fmla="val 7097"/>
            </a:avLst>
          </a:prstGeom>
        </p:spPr>
      </p:pic>
      <p:sp>
        <p:nvSpPr>
          <p:cNvPr id="14" name="home-center-top">
            <a:extLst>
              <a:ext uri="{FF2B5EF4-FFF2-40B4-BE49-F238E27FC236}">
                <a16:creationId xmlns:a16="http://schemas.microsoft.com/office/drawing/2014/main" id="{CD67F9E5-C550-4470-86BB-85AFC3F061AB}"/>
              </a:ext>
            </a:extLst>
          </p:cNvPr>
          <p:cNvSpPr>
            <a:spLocks noGrp="1"/>
          </p:cNvSpPr>
          <p:nvPr/>
        </p:nvSpPr>
        <p:spPr>
          <a:xfrm>
            <a:off x="4667250" y="27622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</a:t>
            </a:r>
          </a:p>
        </p:txBody>
      </p:sp>
      <p:sp>
        <p:nvSpPr>
          <p:cNvPr id="15" name="home-center-arrow">
            <a:extLst>
              <a:ext uri="{FF2B5EF4-FFF2-40B4-BE49-F238E27FC236}">
                <a16:creationId xmlns:a16="http://schemas.microsoft.com/office/drawing/2014/main" id="{1E8EAA4A-AD1F-41CB-9BDD-43A7C4D5BCDF}"/>
              </a:ext>
            </a:extLst>
          </p:cNvPr>
          <p:cNvSpPr>
            <a:spLocks noGrp="1"/>
          </p:cNvSpPr>
          <p:nvPr/>
        </p:nvSpPr>
        <p:spPr>
          <a:xfrm>
            <a:off x="5715000" y="3381375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home-center-bottom">
            <a:extLst>
              <a:ext uri="{FF2B5EF4-FFF2-40B4-BE49-F238E27FC236}">
                <a16:creationId xmlns:a16="http://schemas.microsoft.com/office/drawing/2014/main" id="{84B5D23D-3FCC-46F8-8C29-3E11789573DC}"/>
              </a:ext>
            </a:extLst>
          </p:cNvPr>
          <p:cNvSpPr>
            <a:spLocks noGrp="1"/>
          </p:cNvSpPr>
          <p:nvPr/>
        </p:nvSpPr>
        <p:spPr>
          <a:xfrm>
            <a:off x="4667250" y="40481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理解产区</a:t>
            </a:r>
          </a:p>
        </p:txBody>
      </p:sp>
      <p:sp>
        <p:nvSpPr>
          <p:cNvPr id="17" name="home-center-caption">
            <a:extLst>
              <a:ext uri="{FF2B5EF4-FFF2-40B4-BE49-F238E27FC236}">
                <a16:creationId xmlns:a16="http://schemas.microsoft.com/office/drawing/2014/main" id="{2F9B3EED-100A-479A-91FC-E86BFA3A3DC4}"/>
              </a:ext>
            </a:extLst>
          </p:cNvPr>
          <p:cNvSpPr>
            <a:spLocks noGrp="1"/>
          </p:cNvSpPr>
          <p:nvPr/>
        </p:nvSpPr>
        <p:spPr>
          <a:xfrm>
            <a:off x="4591050" y="4857750"/>
            <a:ext cx="3009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30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两段体验，共同组成</a:t>
            </a:r>
          </a:p>
          <a:p>
            <a:pPr algn="ctr">
              <a:lnSpc>
                <a:spcPct val="130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完整的咖啡认知链</a:t>
            </a:r>
          </a:p>
        </p:txBody>
      </p:sp>
    </p:spTree>
    <p:extLst>
      <p:ext uri="{BB962C8B-B14F-4D97-AF65-F5344CB8AC3E}">
        <p14:creationId xmlns:p14="http://schemas.microsoft.com/office/powerpoint/2010/main" val="168974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9FAF099E-6141-42CC-9996-88383825D67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 / 项目定位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0253057-B288-4EE7-A7C2-BA1710494EF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两条体验路径，回答同一个问题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2104FAD0-0AF3-47F2-A398-D8A350328F3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怎样让咖啡从“饮品”变成可理解、可参与、可复玩的文化体验？</a:t>
            </a:r>
          </a:p>
        </p:txBody>
      </p:sp>
      <p:sp>
        <p:nvSpPr>
          <p:cNvPr id="4" name="accent-3">
            <a:extLst>
              <a:ext uri="{FF2B5EF4-FFF2-40B4-BE49-F238E27FC236}">
                <a16:creationId xmlns:a16="http://schemas.microsoft.com/office/drawing/2014/main" id="{7D628A8E-0A96-4E2B-B852-4B9CD0F3D67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3">
            <a:extLst>
              <a:ext uri="{FF2B5EF4-FFF2-40B4-BE49-F238E27FC236}">
                <a16:creationId xmlns:a16="http://schemas.microsoft.com/office/drawing/2014/main" id="{BA8ECA5D-44B9-4A5B-9089-270D2B52FD9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3">
            <a:extLst>
              <a:ext uri="{FF2B5EF4-FFF2-40B4-BE49-F238E27FC236}">
                <a16:creationId xmlns:a16="http://schemas.microsoft.com/office/drawing/2014/main" id="{DF9053C4-F6BE-4DAF-953C-A3A5DFE3599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3">
            <a:extLst>
              <a:ext uri="{FF2B5EF4-FFF2-40B4-BE49-F238E27FC236}">
                <a16:creationId xmlns:a16="http://schemas.microsoft.com/office/drawing/2014/main" id="{73C3E613-7DFA-4382-BEC7-5212713CCA08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s2-left-index">
            <a:extLst>
              <a:ext uri="{FF2B5EF4-FFF2-40B4-BE49-F238E27FC236}">
                <a16:creationId xmlns:a16="http://schemas.microsoft.com/office/drawing/2014/main" id="{E05EA88E-BE25-4AB1-B418-1D1053BB105B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95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55"/>
          </a:bodyPr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2-left-title">
            <a:extLst>
              <a:ext uri="{FF2B5EF4-FFF2-40B4-BE49-F238E27FC236}">
                <a16:creationId xmlns:a16="http://schemas.microsoft.com/office/drawing/2014/main" id="{FC1D20B2-D07D-4B96-86CD-DBE88EF3BA07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KFTI 咖啡人格测试</a:t>
            </a:r>
          </a:p>
        </p:txBody>
      </p:sp>
      <p:sp>
        <p:nvSpPr>
          <p:cNvPr id="10" name="s2-left-body">
            <a:extLst>
              <a:ext uri="{FF2B5EF4-FFF2-40B4-BE49-F238E27FC236}">
                <a16:creationId xmlns:a16="http://schemas.microsoft.com/office/drawing/2014/main" id="{F7E05354-D0AC-42B1-B9A0-1A3C87B3D58D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从日常选择切入，把奶感、仪式、猎奇与酸苦偏好转译成一组可被讲述的咖啡人格。</a:t>
            </a:r>
          </a:p>
        </p:txBody>
      </p:sp>
      <p:sp>
        <p:nvSpPr>
          <p:cNvPr id="11" name="s2-left-outcome">
            <a:extLst>
              <a:ext uri="{FF2B5EF4-FFF2-40B4-BE49-F238E27FC236}">
                <a16:creationId xmlns:a16="http://schemas.microsoft.com/office/drawing/2014/main" id="{0BFDB2AD-5675-480B-B2ED-6C6F4AFB351D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 → 找到风味入口</a:t>
            </a:r>
          </a:p>
        </p:txBody>
      </p:sp>
      <p:sp>
        <p:nvSpPr>
          <p:cNvPr id="12" name="s2-divider">
            <a:extLst>
              <a:ext uri="{FF2B5EF4-FFF2-40B4-BE49-F238E27FC236}">
                <a16:creationId xmlns:a16="http://schemas.microsoft.com/office/drawing/2014/main" id="{61ED754A-3B30-4CC8-B9AA-932B589F9458}"/>
              </a:ext>
            </a:extLst>
          </p:cNvPr>
          <p:cNvSpPr>
            <a:spLocks noGrp="1"/>
          </p:cNvSpPr>
          <p:nvPr/>
        </p:nvSpPr>
        <p:spPr>
          <a:xfrm>
            <a:off x="5981700" y="2190750"/>
            <a:ext cx="19050" cy="3333750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3" name="s2-right-index">
            <a:extLst>
              <a:ext uri="{FF2B5EF4-FFF2-40B4-BE49-F238E27FC236}">
                <a16:creationId xmlns:a16="http://schemas.microsoft.com/office/drawing/2014/main" id="{2470A324-1CDE-42AE-9C29-CC82B1092F28}"/>
              </a:ext>
            </a:extLst>
          </p:cNvPr>
          <p:cNvSpPr>
            <a:spLocks noGrp="1"/>
          </p:cNvSpPr>
          <p:nvPr/>
        </p:nvSpPr>
        <p:spPr>
          <a:xfrm>
            <a:off x="6743700" y="2238375"/>
            <a:ext cx="95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55"/>
          </a:bodyPr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-right-title">
            <a:extLst>
              <a:ext uri="{FF2B5EF4-FFF2-40B4-BE49-F238E27FC236}">
                <a16:creationId xmlns:a16="http://schemas.microsoft.com/office/drawing/2014/main" id="{8DBBEB24-8B78-43DD-A6B3-2D15F838A941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南涧咖啡庄园</a:t>
            </a:r>
          </a:p>
        </p:txBody>
      </p:sp>
      <p:sp>
        <p:nvSpPr>
          <p:cNvPr id="15" name="s2-right-body">
            <a:extLst>
              <a:ext uri="{FF2B5EF4-FFF2-40B4-BE49-F238E27FC236}">
                <a16:creationId xmlns:a16="http://schemas.microsoft.com/office/drawing/2014/main" id="{EC5E3910-55CA-4AA8-85E3-68AAA4D0C762}"/>
              </a:ext>
            </a:extLst>
          </p:cNvPr>
          <p:cNvSpPr>
            <a:spLocks noGrp="1"/>
          </p:cNvSpPr>
          <p:nvPr/>
        </p:nvSpPr>
        <p:spPr>
          <a:xfrm>
            <a:off x="6743700" y="36004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把产区、农艺、采收与处理变成五轮经营决策，让玩家亲手承担成本、风险与品质之间的取舍。</a:t>
            </a:r>
          </a:p>
        </p:txBody>
      </p:sp>
      <p:sp>
        <p:nvSpPr>
          <p:cNvPr id="16" name="s2-right-outcome">
            <a:extLst>
              <a:ext uri="{FF2B5EF4-FFF2-40B4-BE49-F238E27FC236}">
                <a16:creationId xmlns:a16="http://schemas.microsoft.com/office/drawing/2014/main" id="{1E06402E-0A9F-41E5-A055-49C2096EFD21}"/>
              </a:ext>
            </a:extLst>
          </p:cNvPr>
          <p:cNvSpPr>
            <a:spLocks noGrp="1"/>
          </p:cNvSpPr>
          <p:nvPr/>
        </p:nvSpPr>
        <p:spPr>
          <a:xfrm>
            <a:off x="6743700" y="5143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理解产区 → 看见选择后果</a:t>
            </a:r>
          </a:p>
        </p:txBody>
      </p:sp>
    </p:spTree>
    <p:extLst>
      <p:ext uri="{BB962C8B-B14F-4D97-AF65-F5344CB8AC3E}">
        <p14:creationId xmlns:p14="http://schemas.microsoft.com/office/powerpoint/2010/main" val="128015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A4D46CA0-7393-4B1C-932C-B4485AF5626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 / KFTI 机制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EF14157-5698-49F0-A4CF-842DEFFA5CB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12 道情境题，把抽象偏好变成四维人格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9B1601C5-FA5D-424B-B7DD-C47AB1BAF28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题目不直接问“喜欢哪种豆”，而是用团队协作、生活习惯与选择方式映射偏好。 </a:t>
            </a:r>
          </a:p>
        </p:txBody>
      </p:sp>
      <p:sp>
        <p:nvSpPr>
          <p:cNvPr id="4" name="accent-4">
            <a:extLst>
              <a:ext uri="{FF2B5EF4-FFF2-40B4-BE49-F238E27FC236}">
                <a16:creationId xmlns:a16="http://schemas.microsoft.com/office/drawing/2014/main" id="{5F7C4DBB-3F58-45F5-8714-6C1D2B01F1E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4">
            <a:extLst>
              <a:ext uri="{FF2B5EF4-FFF2-40B4-BE49-F238E27FC236}">
                <a16:creationId xmlns:a16="http://schemas.microsoft.com/office/drawing/2014/main" id="{CB072EB1-31D8-49BE-BF36-5285E30AE26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4">
            <a:extLst>
              <a:ext uri="{FF2B5EF4-FFF2-40B4-BE49-F238E27FC236}">
                <a16:creationId xmlns:a16="http://schemas.microsoft.com/office/drawing/2014/main" id="{166BD85B-5511-460E-96EE-57F017876F5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4">
            <a:extLst>
              <a:ext uri="{FF2B5EF4-FFF2-40B4-BE49-F238E27FC236}">
                <a16:creationId xmlns:a16="http://schemas.microsoft.com/office/drawing/2014/main" id="{1A2EEAE7-02C9-4DCC-98A2-E275B4147104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kfti-question-shadow">
            <a:extLst>
              <a:ext uri="{FF2B5EF4-FFF2-40B4-BE49-F238E27FC236}">
                <a16:creationId xmlns:a16="http://schemas.microsoft.com/office/drawing/2014/main" id="{125FF658-2C21-416C-8335-B9510A75AF18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2857500" cy="4191000"/>
          </a:xfrm>
          <a:prstGeom prst="roundRect">
            <a:avLst>
              <a:gd name="adj" fmla="val 6667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2522" y="1952625"/>
            <a:ext cx="2154557" cy="4191000"/>
          </a:xfrm>
          <a:prstGeom prst="roundRect">
            <a:avLst>
              <a:gd name="adj" fmla="val 6667"/>
            </a:avLst>
          </a:prstGeom>
        </p:spPr>
      </p:pic>
      <p:sp>
        <p:nvSpPr>
          <p:cNvPr id="10" name="s3-claim">
            <a:extLst>
              <a:ext uri="{FF2B5EF4-FFF2-40B4-BE49-F238E27FC236}">
                <a16:creationId xmlns:a16="http://schemas.microsoft.com/office/drawing/2014/main" id="{917D3995-EA48-4C02-B102-7EA38410BAFE}"/>
              </a:ext>
            </a:extLst>
          </p:cNvPr>
          <p:cNvSpPr>
            <a:spLocks noGrp="1"/>
          </p:cNvSpPr>
          <p:nvPr/>
        </p:nvSpPr>
        <p:spPr>
          <a:xfrm>
            <a:off x="4457700" y="207645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109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四个维度共同构成人格代码</a:t>
            </a:r>
          </a:p>
        </p:txBody>
      </p:sp>
      <p:sp>
        <p:nvSpPr>
          <p:cNvPr id="11" name="s3-code-0">
            <a:extLst>
              <a:ext uri="{FF2B5EF4-FFF2-40B4-BE49-F238E27FC236}">
                <a16:creationId xmlns:a16="http://schemas.microsoft.com/office/drawing/2014/main" id="{414C03B0-7452-4F88-91D4-6583EB873497}"/>
              </a:ext>
            </a:extLst>
          </p:cNvPr>
          <p:cNvSpPr>
            <a:spLocks noGrp="1"/>
          </p:cNvSpPr>
          <p:nvPr/>
        </p:nvSpPr>
        <p:spPr>
          <a:xfrm>
            <a:off x="4457700" y="278130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M </a:t>
            </a:r>
            <a:r>
              <a:rPr lang="en-US" b="1" dirty="0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/ B</a:t>
            </a:r>
            <a:endParaRPr sz="1800" b="1" dirty="0">
              <a:solidFill>
                <a:srgbClr val="6E3F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s3-name-0">
            <a:extLst>
              <a:ext uri="{FF2B5EF4-FFF2-40B4-BE49-F238E27FC236}">
                <a16:creationId xmlns:a16="http://schemas.microsoft.com/office/drawing/2014/main" id="{0884F3A7-F74F-4C14-BFD9-12EE531CB53B}"/>
              </a:ext>
            </a:extLst>
          </p:cNvPr>
          <p:cNvSpPr>
            <a:spLocks noGrp="1"/>
          </p:cNvSpPr>
          <p:nvPr/>
        </p:nvSpPr>
        <p:spPr>
          <a:xfrm>
            <a:off x="6362700" y="27813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奶感与连接</a:t>
            </a:r>
          </a:p>
        </p:txBody>
      </p:sp>
      <p:sp>
        <p:nvSpPr>
          <p:cNvPr id="13" name="s3-desc-0">
            <a:extLst>
              <a:ext uri="{FF2B5EF4-FFF2-40B4-BE49-F238E27FC236}">
                <a16:creationId xmlns:a16="http://schemas.microsoft.com/office/drawing/2014/main" id="{9BB122F7-0E7B-4EF7-932A-35A2EBEF7344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关注温和、包容与情绪联结</a:t>
            </a:r>
          </a:p>
        </p:txBody>
      </p:sp>
      <p:sp>
        <p:nvSpPr>
          <p:cNvPr id="14" name="s3-sep-0">
            <a:extLst>
              <a:ext uri="{FF2B5EF4-FFF2-40B4-BE49-F238E27FC236}">
                <a16:creationId xmlns:a16="http://schemas.microsoft.com/office/drawing/2014/main" id="{425B3EAF-56EF-4A53-8EF3-E07B81D9504A}"/>
              </a:ext>
            </a:extLst>
          </p:cNvPr>
          <p:cNvSpPr>
            <a:spLocks noGrp="1"/>
          </p:cNvSpPr>
          <p:nvPr/>
        </p:nvSpPr>
        <p:spPr>
          <a:xfrm>
            <a:off x="4457700" y="3305175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5" name="s3-code-1">
            <a:extLst>
              <a:ext uri="{FF2B5EF4-FFF2-40B4-BE49-F238E27FC236}">
                <a16:creationId xmlns:a16="http://schemas.microsoft.com/office/drawing/2014/main" id="{497A19C4-51E4-446A-B598-D07AF428D5F5}"/>
              </a:ext>
            </a:extLst>
          </p:cNvPr>
          <p:cNvSpPr>
            <a:spLocks noGrp="1"/>
          </p:cNvSpPr>
          <p:nvPr/>
        </p:nvSpPr>
        <p:spPr>
          <a:xfrm>
            <a:off x="4457700" y="353377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R </a:t>
            </a:r>
            <a:r>
              <a:rPr lang="en-US" sz="1800" b="1" dirty="0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 / P</a:t>
            </a:r>
            <a:endParaRPr sz="1800" b="1" dirty="0">
              <a:solidFill>
                <a:srgbClr val="6E3F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3-name-1">
            <a:extLst>
              <a:ext uri="{FF2B5EF4-FFF2-40B4-BE49-F238E27FC236}">
                <a16:creationId xmlns:a16="http://schemas.microsoft.com/office/drawing/2014/main" id="{24098489-5996-48C8-8F6C-DA33982C2F87}"/>
              </a:ext>
            </a:extLst>
          </p:cNvPr>
          <p:cNvSpPr>
            <a:spLocks noGrp="1"/>
          </p:cNvSpPr>
          <p:nvPr/>
        </p:nvSpPr>
        <p:spPr>
          <a:xfrm>
            <a:off x="6362700" y="35337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仪式与</a:t>
            </a:r>
            <a:r>
              <a:rPr lang="zh-CN" altLang="en-US" sz="1650" b="1" dirty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功能</a:t>
            </a:r>
            <a:endParaRPr sz="1650" b="1" dirty="0">
              <a:solidFill>
                <a:srgbClr val="30221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3-desc-1">
            <a:extLst>
              <a:ext uri="{FF2B5EF4-FFF2-40B4-BE49-F238E27FC236}">
                <a16:creationId xmlns:a16="http://schemas.microsoft.com/office/drawing/2014/main" id="{95667DEF-7CD9-41FB-9A2E-F91E0DF1E372}"/>
              </a:ext>
            </a:extLst>
          </p:cNvPr>
          <p:cNvSpPr>
            <a:spLocks noGrp="1"/>
          </p:cNvSpPr>
          <p:nvPr/>
        </p:nvSpPr>
        <p:spPr>
          <a:xfrm>
            <a:off x="8096250" y="35337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偏好结构、过程与完整体验</a:t>
            </a:r>
          </a:p>
        </p:txBody>
      </p:sp>
      <p:sp>
        <p:nvSpPr>
          <p:cNvPr id="18" name="s3-sep-1">
            <a:extLst>
              <a:ext uri="{FF2B5EF4-FFF2-40B4-BE49-F238E27FC236}">
                <a16:creationId xmlns:a16="http://schemas.microsoft.com/office/drawing/2014/main" id="{5A5E7B49-43D1-4099-BA8E-4B1B033F903B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9" name="s3-code-2">
            <a:extLst>
              <a:ext uri="{FF2B5EF4-FFF2-40B4-BE49-F238E27FC236}">
                <a16:creationId xmlns:a16="http://schemas.microsoft.com/office/drawing/2014/main" id="{88832332-4E31-4D5D-8FC8-1527CDE9E9A4}"/>
              </a:ext>
            </a:extLst>
          </p:cNvPr>
          <p:cNvSpPr>
            <a:spLocks noGrp="1"/>
          </p:cNvSpPr>
          <p:nvPr/>
        </p:nvSpPr>
        <p:spPr>
          <a:xfrm>
            <a:off x="4457700" y="428625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X </a:t>
            </a:r>
            <a:r>
              <a:rPr lang="en-US" sz="1800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/ C</a:t>
            </a:r>
            <a:endParaRPr sz="1800" b="1" dirty="0">
              <a:solidFill>
                <a:srgbClr val="5D7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s3-name-2">
            <a:extLst>
              <a:ext uri="{FF2B5EF4-FFF2-40B4-BE49-F238E27FC236}">
                <a16:creationId xmlns:a16="http://schemas.microsoft.com/office/drawing/2014/main" id="{D6974672-BB3F-4608-810F-F691DED4C591}"/>
              </a:ext>
            </a:extLst>
          </p:cNvPr>
          <p:cNvSpPr>
            <a:spLocks noGrp="1"/>
          </p:cNvSpPr>
          <p:nvPr/>
        </p:nvSpPr>
        <p:spPr>
          <a:xfrm>
            <a:off x="6362700" y="4286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新奇与</a:t>
            </a:r>
            <a:r>
              <a:rPr lang="zh-CN" altLang="en-US" sz="1650" b="1" dirty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经典</a:t>
            </a:r>
            <a:endParaRPr sz="1650" b="1" dirty="0">
              <a:solidFill>
                <a:srgbClr val="30221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s3-desc-2">
            <a:extLst>
              <a:ext uri="{FF2B5EF4-FFF2-40B4-BE49-F238E27FC236}">
                <a16:creationId xmlns:a16="http://schemas.microsoft.com/office/drawing/2014/main" id="{120B7D85-E6AD-4627-9741-5B431CF4B5E2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乐于尝试非典型组合与复杂风味</a:t>
            </a:r>
          </a:p>
        </p:txBody>
      </p:sp>
      <p:sp>
        <p:nvSpPr>
          <p:cNvPr id="22" name="s3-sep-2">
            <a:extLst>
              <a:ext uri="{FF2B5EF4-FFF2-40B4-BE49-F238E27FC236}">
                <a16:creationId xmlns:a16="http://schemas.microsoft.com/office/drawing/2014/main" id="{442E881B-0171-459C-AFAA-E840569F047C}"/>
              </a:ext>
            </a:extLst>
          </p:cNvPr>
          <p:cNvSpPr>
            <a:spLocks noGrp="1"/>
          </p:cNvSpPr>
          <p:nvPr/>
        </p:nvSpPr>
        <p:spPr>
          <a:xfrm>
            <a:off x="4457700" y="4810125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3" name="s3-code-3">
            <a:extLst>
              <a:ext uri="{FF2B5EF4-FFF2-40B4-BE49-F238E27FC236}">
                <a16:creationId xmlns:a16="http://schemas.microsoft.com/office/drawing/2014/main" id="{12B2FF88-5899-4C1E-A4D8-372F4CCB36B7}"/>
              </a:ext>
            </a:extLst>
          </p:cNvPr>
          <p:cNvSpPr>
            <a:spLocks noGrp="1"/>
          </p:cNvSpPr>
          <p:nvPr/>
        </p:nvSpPr>
        <p:spPr>
          <a:xfrm>
            <a:off x="4457700" y="503872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77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A </a:t>
            </a:r>
            <a:r>
              <a:rPr lang="en-US" sz="1800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b="1" dirty="0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/ S</a:t>
            </a:r>
            <a:endParaRPr sz="1800" b="1" dirty="0">
              <a:solidFill>
                <a:srgbClr val="5D7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s3-name-3">
            <a:extLst>
              <a:ext uri="{FF2B5EF4-FFF2-40B4-BE49-F238E27FC236}">
                <a16:creationId xmlns:a16="http://schemas.microsoft.com/office/drawing/2014/main" id="{7F535ACC-199E-4246-875A-B81538D94F4B}"/>
              </a:ext>
            </a:extLst>
          </p:cNvPr>
          <p:cNvSpPr>
            <a:spLocks noGrp="1"/>
          </p:cNvSpPr>
          <p:nvPr/>
        </p:nvSpPr>
        <p:spPr>
          <a:xfrm>
            <a:off x="6362700" y="50387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柔和与明亮</a:t>
            </a:r>
            <a:endParaRPr sz="1650" b="1" dirty="0">
              <a:solidFill>
                <a:srgbClr val="30221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s3-desc-3">
            <a:extLst>
              <a:ext uri="{FF2B5EF4-FFF2-40B4-BE49-F238E27FC236}">
                <a16:creationId xmlns:a16="http://schemas.microsoft.com/office/drawing/2014/main" id="{0180CC70-5ACB-4F05-8248-32268A3DAD6A}"/>
              </a:ext>
            </a:extLst>
          </p:cNvPr>
          <p:cNvSpPr>
            <a:spLocks noGrp="1"/>
          </p:cNvSpPr>
          <p:nvPr/>
        </p:nvSpPr>
        <p:spPr>
          <a:xfrm>
            <a:off x="8096250" y="503872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强调鲜明个性，而非迎合多数口味</a:t>
            </a:r>
          </a:p>
        </p:txBody>
      </p:sp>
    </p:spTree>
    <p:extLst>
      <p:ext uri="{BB962C8B-B14F-4D97-AF65-F5344CB8AC3E}">
        <p14:creationId xmlns:p14="http://schemas.microsoft.com/office/powerpoint/2010/main" val="36339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5">
            <a:extLst>
              <a:ext uri="{FF2B5EF4-FFF2-40B4-BE49-F238E27FC236}">
                <a16:creationId xmlns:a16="http://schemas.microsoft.com/office/drawing/2014/main" id="{835261F9-041E-41B9-8E31-45B47C19FB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03 / KFTI 输出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BAAE3E6A-A15D-4B4B-B091-ED6873CF501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结果不止给标签，还给出一套可继续探索的线索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6FE662D0-A64B-4C17-99D2-3C90CFCD56F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人格代码、风味档案、产区推荐、四维解释与关系提示共同组成完整结果页。 </a:t>
            </a:r>
          </a:p>
        </p:txBody>
      </p:sp>
      <p:sp>
        <p:nvSpPr>
          <p:cNvPr id="4" name="accent-5">
            <a:extLst>
              <a:ext uri="{FF2B5EF4-FFF2-40B4-BE49-F238E27FC236}">
                <a16:creationId xmlns:a16="http://schemas.microsoft.com/office/drawing/2014/main" id="{185F9BAC-A914-4AB3-9F03-63C355A16D3E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5">
            <a:extLst>
              <a:ext uri="{FF2B5EF4-FFF2-40B4-BE49-F238E27FC236}">
                <a16:creationId xmlns:a16="http://schemas.microsoft.com/office/drawing/2014/main" id="{23078A38-A53D-4196-8A6F-D139DC6E03B1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5">
            <a:extLst>
              <a:ext uri="{FF2B5EF4-FFF2-40B4-BE49-F238E27FC236}">
                <a16:creationId xmlns:a16="http://schemas.microsoft.com/office/drawing/2014/main" id="{B9A9F76F-F173-4082-B81D-62D6956C3D7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5">
            <a:extLst>
              <a:ext uri="{FF2B5EF4-FFF2-40B4-BE49-F238E27FC236}">
                <a16:creationId xmlns:a16="http://schemas.microsoft.com/office/drawing/2014/main" id="{99BAC54B-F788-4B41-B0E1-056AD2A5C4FB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kfti-result-1-shadow">
            <a:extLst>
              <a:ext uri="{FF2B5EF4-FFF2-40B4-BE49-F238E27FC236}">
                <a16:creationId xmlns:a16="http://schemas.microsoft.com/office/drawing/2014/main" id="{7FE7C935-EBEB-4246-9A20-17392B9F9FAF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16129" b="16129"/>
          <a:stretch>
            <a:fillRect/>
          </a:stretch>
        </p:blipFill>
        <p:spPr>
          <a:xfrm>
            <a:off x="6286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  <p:sp>
        <p:nvSpPr>
          <p:cNvPr id="10" name="kfti-result-2-shadow">
            <a:extLst>
              <a:ext uri="{FF2B5EF4-FFF2-40B4-BE49-F238E27FC236}">
                <a16:creationId xmlns:a16="http://schemas.microsoft.com/office/drawing/2014/main" id="{B298AC44-CD8B-4ECA-8EB4-02DBFCAC299F}"/>
              </a:ext>
            </a:extLst>
          </p:cNvPr>
          <p:cNvSpPr>
            <a:spLocks noGrp="1"/>
          </p:cNvSpPr>
          <p:nvPr/>
        </p:nvSpPr>
        <p:spPr>
          <a:xfrm>
            <a:off x="45529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t="16793" b="16793"/>
          <a:stretch>
            <a:fillRect/>
          </a:stretch>
        </p:blipFill>
        <p:spPr>
          <a:xfrm>
            <a:off x="44767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  <p:sp>
        <p:nvSpPr>
          <p:cNvPr id="12" name="kfti-result-3-shadow">
            <a:extLst>
              <a:ext uri="{FF2B5EF4-FFF2-40B4-BE49-F238E27FC236}">
                <a16:creationId xmlns:a16="http://schemas.microsoft.com/office/drawing/2014/main" id="{37F7F973-373A-402E-A3F6-1760D7760574}"/>
              </a:ext>
            </a:extLst>
          </p:cNvPr>
          <p:cNvSpPr>
            <a:spLocks noGrp="1"/>
          </p:cNvSpPr>
          <p:nvPr/>
        </p:nvSpPr>
        <p:spPr>
          <a:xfrm>
            <a:off x="84010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rcRect t="15743" b="15743"/>
          <a:stretch>
            <a:fillRect/>
          </a:stretch>
        </p:blipFill>
        <p:spPr>
          <a:xfrm>
            <a:off x="83248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</p:spTree>
    <p:extLst>
      <p:ext uri="{BB962C8B-B14F-4D97-AF65-F5344CB8AC3E}">
        <p14:creationId xmlns:p14="http://schemas.microsoft.com/office/powerpoint/2010/main" val="177183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6">
            <a:extLst>
              <a:ext uri="{FF2B5EF4-FFF2-40B4-BE49-F238E27FC236}">
                <a16:creationId xmlns:a16="http://schemas.microsoft.com/office/drawing/2014/main" id="{2F85E3FE-2DAD-4EBE-8CB2-9E412A0789F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04 / 庄园主循环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3B5D5F31-523C-4A5A-96D0-6D203D6FAD6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五轮经营，把产区知识放进真实取舍</a:t>
            </a:r>
          </a:p>
        </p:txBody>
      </p:sp>
      <p:sp>
        <p:nvSpPr>
          <p:cNvPr id="3" name="subtitle-6">
            <a:extLst>
              <a:ext uri="{FF2B5EF4-FFF2-40B4-BE49-F238E27FC236}">
                <a16:creationId xmlns:a16="http://schemas.microsoft.com/office/drawing/2014/main" id="{EAB1EDD3-B4FC-465B-AC8D-F782893C7464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每一次选择都同时改变资金、产量、树体活力、风味潜力与纯净度。 </a:t>
            </a:r>
          </a:p>
        </p:txBody>
      </p:sp>
      <p:sp>
        <p:nvSpPr>
          <p:cNvPr id="4" name="accent-6">
            <a:extLst>
              <a:ext uri="{FF2B5EF4-FFF2-40B4-BE49-F238E27FC236}">
                <a16:creationId xmlns:a16="http://schemas.microsoft.com/office/drawing/2014/main" id="{8BF63698-8159-415C-A3FD-0C0B6D4287B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6">
            <a:extLst>
              <a:ext uri="{FF2B5EF4-FFF2-40B4-BE49-F238E27FC236}">
                <a16:creationId xmlns:a16="http://schemas.microsoft.com/office/drawing/2014/main" id="{51EF2ACA-87DD-4176-BD3C-68777EE31DA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6">
            <a:extLst>
              <a:ext uri="{FF2B5EF4-FFF2-40B4-BE49-F238E27FC236}">
                <a16:creationId xmlns:a16="http://schemas.microsoft.com/office/drawing/2014/main" id="{79E7AA67-4EF6-4457-9BCD-6F48B85155F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6">
            <a:extLst>
              <a:ext uri="{FF2B5EF4-FFF2-40B4-BE49-F238E27FC236}">
                <a16:creationId xmlns:a16="http://schemas.microsoft.com/office/drawing/2014/main" id="{822CA83C-016B-4B6D-B7D0-BAFD4C68CA60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s5-number">
            <a:extLst>
              <a:ext uri="{FF2B5EF4-FFF2-40B4-BE49-F238E27FC236}">
                <a16:creationId xmlns:a16="http://schemas.microsoft.com/office/drawing/2014/main" id="{3B54D0C2-5C2B-4B45-B314-43EFECBE90B2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238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s5-number-label">
            <a:extLst>
              <a:ext uri="{FF2B5EF4-FFF2-40B4-BE49-F238E27FC236}">
                <a16:creationId xmlns:a16="http://schemas.microsoft.com/office/drawing/2014/main" id="{BF6DC138-CA62-4E7B-8BB0-1EA63B52A4DD}"/>
              </a:ext>
            </a:extLst>
          </p:cNvPr>
          <p:cNvSpPr>
            <a:spLocks noGrp="1"/>
          </p:cNvSpPr>
          <p:nvPr/>
        </p:nvSpPr>
        <p:spPr>
          <a:xfrm>
            <a:off x="1952625" y="24003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个经营阶段</a:t>
            </a:r>
          </a:p>
        </p:txBody>
      </p:sp>
      <p:sp>
        <p:nvSpPr>
          <p:cNvPr id="10" name="s5-stages">
            <a:extLst>
              <a:ext uri="{FF2B5EF4-FFF2-40B4-BE49-F238E27FC236}">
                <a16:creationId xmlns:a16="http://schemas.microsoft.com/office/drawing/2014/main" id="{46A4B1CF-EB31-42A4-82AF-182CEE904BA6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建园　→　生长　→　开花　→　采收　→　处理</a:t>
            </a:r>
          </a:p>
        </p:txBody>
      </p:sp>
      <p:sp>
        <p:nvSpPr>
          <p:cNvPr id="11" name="s5-stage-rule">
            <a:extLst>
              <a:ext uri="{FF2B5EF4-FFF2-40B4-BE49-F238E27FC236}">
                <a16:creationId xmlns:a16="http://schemas.microsoft.com/office/drawing/2014/main" id="{29C3EDAF-A9FC-4CE6-B2ED-19940D116588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6381750" cy="19050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2" name="s5-detail">
            <a:extLst>
              <a:ext uri="{FF2B5EF4-FFF2-40B4-BE49-F238E27FC236}">
                <a16:creationId xmlns:a16="http://schemas.microsoft.com/office/drawing/2014/main" id="{194B2749-2528-42AD-AA18-644AF8C7F89A}"/>
              </a:ext>
            </a:extLst>
          </p:cNvPr>
          <p:cNvSpPr>
            <a:spLocks noGrp="1"/>
          </p:cNvSpPr>
          <p:nvPr/>
        </p:nvSpPr>
        <p:spPr>
          <a:xfrm>
            <a:off x="762000" y="4267200"/>
            <a:ext cx="6381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15 个主线选项围绕海拔与品种、遮阴生态、挂果策略、采收标准和生豆处理展开。玩家看到的是方向性趋势，精确影响在选择后揭晓。</a:t>
            </a:r>
          </a:p>
        </p:txBody>
      </p:sp>
      <p:sp>
        <p:nvSpPr>
          <p:cNvPr id="13" name="s5-resource">
            <a:extLst>
              <a:ext uri="{FF2B5EF4-FFF2-40B4-BE49-F238E27FC236}">
                <a16:creationId xmlns:a16="http://schemas.microsoft.com/office/drawing/2014/main" id="{F2308ABF-B127-429B-8C18-BBAA8D1A93C9}"/>
              </a:ext>
            </a:extLst>
          </p:cNvPr>
          <p:cNvSpPr>
            <a:spLocks noGrp="1"/>
          </p:cNvSpPr>
          <p:nvPr/>
        </p:nvSpPr>
        <p:spPr>
          <a:xfrm>
            <a:off x="762000" y="5743575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资金 · 预计产量 · 树体活力 · 风味潜力 · 纯净度</a:t>
            </a:r>
          </a:p>
        </p:txBody>
      </p:sp>
      <p:sp>
        <p:nvSpPr>
          <p:cNvPr id="14" name="estate-choice-shadow">
            <a:extLst>
              <a:ext uri="{FF2B5EF4-FFF2-40B4-BE49-F238E27FC236}">
                <a16:creationId xmlns:a16="http://schemas.microsoft.com/office/drawing/2014/main" id="{0F0958CF-5811-48BF-BE4D-2E514DE85EB5}"/>
              </a:ext>
            </a:extLst>
          </p:cNvPr>
          <p:cNvSpPr>
            <a:spLocks noGrp="1"/>
          </p:cNvSpPr>
          <p:nvPr/>
        </p:nvSpPr>
        <p:spPr>
          <a:xfrm>
            <a:off x="8315325" y="1952625"/>
            <a:ext cx="3048000" cy="4457700"/>
          </a:xfrm>
          <a:prstGeom prst="roundRect">
            <a:avLst>
              <a:gd name="adj" fmla="val 625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52554" y="1857375"/>
            <a:ext cx="2421143" cy="4457700"/>
          </a:xfrm>
          <a:prstGeom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70698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7">
            <a:extLst>
              <a:ext uri="{FF2B5EF4-FFF2-40B4-BE49-F238E27FC236}">
                <a16:creationId xmlns:a16="http://schemas.microsoft.com/office/drawing/2014/main" id="{E4D7EB02-59E6-48FF-8269-779CB116C7E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05 / 风险与决策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28707AF-1CBA-4569-8AD9-784802275C1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随机事件让农业经营的风险变得可感知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C22ED4B5-ED62-4D5B-96F5-6CDC0121F78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危机与奇遇不是装饰，而是要求玩家在资金、树势和长期品质之间再次取舍。 </a:t>
            </a:r>
          </a:p>
        </p:txBody>
      </p:sp>
      <p:sp>
        <p:nvSpPr>
          <p:cNvPr id="4" name="accent-7">
            <a:extLst>
              <a:ext uri="{FF2B5EF4-FFF2-40B4-BE49-F238E27FC236}">
                <a16:creationId xmlns:a16="http://schemas.microsoft.com/office/drawing/2014/main" id="{B8AF7011-0477-48C3-9CC1-958348A7090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7">
            <a:extLst>
              <a:ext uri="{FF2B5EF4-FFF2-40B4-BE49-F238E27FC236}">
                <a16:creationId xmlns:a16="http://schemas.microsoft.com/office/drawing/2014/main" id="{8E28EDD2-899A-4A8B-87EB-78225D694C2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7">
            <a:extLst>
              <a:ext uri="{FF2B5EF4-FFF2-40B4-BE49-F238E27FC236}">
                <a16:creationId xmlns:a16="http://schemas.microsoft.com/office/drawing/2014/main" id="{E21BF2AA-1F7F-4FA9-9E6F-DB89F5D9D90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7">
            <a:extLst>
              <a:ext uri="{FF2B5EF4-FFF2-40B4-BE49-F238E27FC236}">
                <a16:creationId xmlns:a16="http://schemas.microsoft.com/office/drawing/2014/main" id="{CB374E6F-2B57-4D97-9293-BAC82B3226CC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estate-event-shadow">
            <a:extLst>
              <a:ext uri="{FF2B5EF4-FFF2-40B4-BE49-F238E27FC236}">
                <a16:creationId xmlns:a16="http://schemas.microsoft.com/office/drawing/2014/main" id="{4D5AEB64-0DC4-43BD-AD30-64AB5248573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3571875" cy="4476750"/>
          </a:xfrm>
          <a:prstGeom prst="roundRect">
            <a:avLst>
              <a:gd name="adj" fmla="val 5333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489" y="1857375"/>
            <a:ext cx="2390498" cy="4476750"/>
          </a:xfrm>
          <a:prstGeom prst="roundRect">
            <a:avLst>
              <a:gd name="adj" fmla="val 5333"/>
            </a:avLst>
          </a:prstGeom>
        </p:spPr>
      </p:pic>
      <p:sp>
        <p:nvSpPr>
          <p:cNvPr id="10" name="s6-big">
            <a:extLst>
              <a:ext uri="{FF2B5EF4-FFF2-40B4-BE49-F238E27FC236}">
                <a16:creationId xmlns:a16="http://schemas.microsoft.com/office/drawing/2014/main" id="{E56D1BB5-21B1-4BB5-8C49-3DA4585B18DF}"/>
              </a:ext>
            </a:extLst>
          </p:cNvPr>
          <p:cNvSpPr>
            <a:spLocks noGrp="1"/>
          </p:cNvSpPr>
          <p:nvPr/>
        </p:nvSpPr>
        <p:spPr>
          <a:xfrm>
            <a:off x="5000625" y="2114550"/>
            <a:ext cx="114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112"/>
          </a:bodyPr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1" name="s6-big-label">
            <a:extLst>
              <a:ext uri="{FF2B5EF4-FFF2-40B4-BE49-F238E27FC236}">
                <a16:creationId xmlns:a16="http://schemas.microsoft.com/office/drawing/2014/main" id="{201A8E2C-609F-4514-A0EB-B953A6FEB32F}"/>
              </a:ext>
            </a:extLst>
          </p:cNvPr>
          <p:cNvSpPr>
            <a:spLocks noGrp="1"/>
          </p:cNvSpPr>
          <p:nvPr/>
        </p:nvSpPr>
        <p:spPr>
          <a:xfrm>
            <a:off x="6172200" y="24003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个事件池条目</a:t>
            </a:r>
          </a:p>
        </p:txBody>
      </p:sp>
      <p:sp>
        <p:nvSpPr>
          <p:cNvPr id="12" name="s6-body">
            <a:extLst>
              <a:ext uri="{FF2B5EF4-FFF2-40B4-BE49-F238E27FC236}">
                <a16:creationId xmlns:a16="http://schemas.microsoft.com/office/drawing/2014/main" id="{6D4B0B73-CEF9-4130-ABB7-C7F96583B286}"/>
              </a:ext>
            </a:extLst>
          </p:cNvPr>
          <p:cNvSpPr>
            <a:spLocks noGrp="1"/>
          </p:cNvSpPr>
          <p:nvPr/>
        </p:nvSpPr>
        <p:spPr>
          <a:xfrm>
            <a:off x="5000625" y="3190875"/>
            <a:ext cx="628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前三轮各进行一次随机判定，可能出现风调雨顺、奇遇或危机。每个事件提供三种应对：投入资源解决、接受局部损失，或承担不确定结果。</a:t>
            </a:r>
          </a:p>
        </p:txBody>
      </p:sp>
      <p:sp>
        <p:nvSpPr>
          <p:cNvPr id="13" name="s6-example-title">
            <a:extLst>
              <a:ext uri="{FF2B5EF4-FFF2-40B4-BE49-F238E27FC236}">
                <a16:creationId xmlns:a16="http://schemas.microsoft.com/office/drawing/2014/main" id="{F4C7CB1E-554B-4AEF-B895-1CCA45F44486}"/>
              </a:ext>
            </a:extLst>
          </p:cNvPr>
          <p:cNvSpPr>
            <a:spLocks noGrp="1"/>
          </p:cNvSpPr>
          <p:nvPr/>
        </p:nvSpPr>
        <p:spPr>
          <a:xfrm>
            <a:off x="5000625" y="46196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以“干热春旱”为例</a:t>
            </a:r>
          </a:p>
        </p:txBody>
      </p:sp>
      <p:sp>
        <p:nvSpPr>
          <p:cNvPr id="14" name="s6-example">
            <a:extLst>
              <a:ext uri="{FF2B5EF4-FFF2-40B4-BE49-F238E27FC236}">
                <a16:creationId xmlns:a16="http://schemas.microsoft.com/office/drawing/2014/main" id="{D6583176-6592-4773-9BDE-54DD6C5926B2}"/>
              </a:ext>
            </a:extLst>
          </p:cNvPr>
          <p:cNvSpPr>
            <a:spLocks noGrp="1"/>
          </p:cNvSpPr>
          <p:nvPr/>
        </p:nvSpPr>
        <p:spPr>
          <a:xfrm>
            <a:off x="5000625" y="5095875"/>
            <a:ext cx="5715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铺设滴灌：资金换活力</a:t>
            </a:r>
          </a:p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覆草堆肥：低成本缓解损失</a:t>
            </a:r>
          </a:p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听天由命：零成本，但结果取决于树势</a:t>
            </a:r>
          </a:p>
        </p:txBody>
      </p:sp>
    </p:spTree>
    <p:extLst>
      <p:ext uri="{BB962C8B-B14F-4D97-AF65-F5344CB8AC3E}">
        <p14:creationId xmlns:p14="http://schemas.microsoft.com/office/powerpoint/2010/main" val="65388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8">
            <a:extLst>
              <a:ext uri="{FF2B5EF4-FFF2-40B4-BE49-F238E27FC236}">
                <a16:creationId xmlns:a16="http://schemas.microsoft.com/office/drawing/2014/main" id="{D206FD75-94D8-4AAE-BE4D-B895397351B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06 / 反馈闭环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EA198E1-FCAC-434D-A51A-9435B04D5DE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选择最终被翻译成品质、市场与利润</a:t>
            </a:r>
          </a:p>
        </p:txBody>
      </p:sp>
      <p:sp>
        <p:nvSpPr>
          <p:cNvPr id="3" name="subtitle-8">
            <a:extLst>
              <a:ext uri="{FF2B5EF4-FFF2-40B4-BE49-F238E27FC236}">
                <a16:creationId xmlns:a16="http://schemas.microsoft.com/office/drawing/2014/main" id="{D3A2F4AE-8C6E-4333-B498-629F2047511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从资源变化到标签，从 SCA 与瑕疵率到买家报价，结果始终可追溯到此前的经营取舍。 </a:t>
            </a:r>
          </a:p>
        </p:txBody>
      </p:sp>
      <p:sp>
        <p:nvSpPr>
          <p:cNvPr id="4" name="accent-8">
            <a:extLst>
              <a:ext uri="{FF2B5EF4-FFF2-40B4-BE49-F238E27FC236}">
                <a16:creationId xmlns:a16="http://schemas.microsoft.com/office/drawing/2014/main" id="{763B4C63-E033-40CF-AD43-4C3D547C275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8">
            <a:extLst>
              <a:ext uri="{FF2B5EF4-FFF2-40B4-BE49-F238E27FC236}">
                <a16:creationId xmlns:a16="http://schemas.microsoft.com/office/drawing/2014/main" id="{227B5F77-21C8-4608-A6E3-7512FEF59E41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8">
            <a:extLst>
              <a:ext uri="{FF2B5EF4-FFF2-40B4-BE49-F238E27FC236}">
                <a16:creationId xmlns:a16="http://schemas.microsoft.com/office/drawing/2014/main" id="{F7052ACB-CD2C-4071-A06C-45D03A94816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8">
            <a:extLst>
              <a:ext uri="{FF2B5EF4-FFF2-40B4-BE49-F238E27FC236}">
                <a16:creationId xmlns:a16="http://schemas.microsoft.com/office/drawing/2014/main" id="{8DB3B07B-4068-4F2B-A274-488A74D760E3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round-summary-shadow">
            <a:extLst>
              <a:ext uri="{FF2B5EF4-FFF2-40B4-BE49-F238E27FC236}">
                <a16:creationId xmlns:a16="http://schemas.microsoft.com/office/drawing/2014/main" id="{E8B6BC1B-64F7-4BA1-9ACC-546EF6B1CA37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2857500" cy="4210050"/>
          </a:xfrm>
          <a:prstGeom prst="roundRect">
            <a:avLst>
              <a:gd name="adj" fmla="val 600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058" y="1924050"/>
            <a:ext cx="2248085" cy="421005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trade-card-shadow">
            <a:extLst>
              <a:ext uri="{FF2B5EF4-FFF2-40B4-BE49-F238E27FC236}">
                <a16:creationId xmlns:a16="http://schemas.microsoft.com/office/drawing/2014/main" id="{330EC5AB-7D62-47AD-9E43-7ECD3583F54C}"/>
              </a:ext>
            </a:extLst>
          </p:cNvPr>
          <p:cNvSpPr>
            <a:spLocks noGrp="1"/>
          </p:cNvSpPr>
          <p:nvPr/>
        </p:nvSpPr>
        <p:spPr>
          <a:xfrm>
            <a:off x="3838575" y="2019300"/>
            <a:ext cx="2857500" cy="4210050"/>
          </a:xfrm>
          <a:prstGeom prst="roundRect">
            <a:avLst>
              <a:gd name="adj" fmla="val 600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72513" y="1924050"/>
            <a:ext cx="2237225" cy="4210050"/>
          </a:xfrm>
          <a:prstGeom prst="roundRect">
            <a:avLst>
              <a:gd name="adj" fmla="val 6000"/>
            </a:avLst>
          </a:prstGeom>
        </p:spPr>
      </p:pic>
      <p:sp>
        <p:nvSpPr>
          <p:cNvPr id="12" name="s7-num-0">
            <a:extLst>
              <a:ext uri="{FF2B5EF4-FFF2-40B4-BE49-F238E27FC236}">
                <a16:creationId xmlns:a16="http://schemas.microsoft.com/office/drawing/2014/main" id="{808CDCCE-4DAC-46DF-8842-8EC268ED7124}"/>
              </a:ext>
            </a:extLst>
          </p:cNvPr>
          <p:cNvSpPr>
            <a:spLocks noGrp="1"/>
          </p:cNvSpPr>
          <p:nvPr/>
        </p:nvSpPr>
        <p:spPr>
          <a:xfrm>
            <a:off x="7334250" y="2076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s7-title-0">
            <a:extLst>
              <a:ext uri="{FF2B5EF4-FFF2-40B4-BE49-F238E27FC236}">
                <a16:creationId xmlns:a16="http://schemas.microsoft.com/office/drawing/2014/main" id="{6EDD0ACA-1A76-4F39-9D43-772109E8098D}"/>
              </a:ext>
            </a:extLst>
          </p:cNvPr>
          <p:cNvSpPr>
            <a:spLocks noGrp="1"/>
          </p:cNvSpPr>
          <p:nvPr/>
        </p:nvSpPr>
        <p:spPr>
          <a:xfrm>
            <a:off x="8020050" y="20764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资源与标签</a:t>
            </a:r>
          </a:p>
        </p:txBody>
      </p:sp>
      <p:sp>
        <p:nvSpPr>
          <p:cNvPr id="14" name="s7-desc-0">
            <a:extLst>
              <a:ext uri="{FF2B5EF4-FFF2-40B4-BE49-F238E27FC236}">
                <a16:creationId xmlns:a16="http://schemas.microsoft.com/office/drawing/2014/main" id="{B51AC742-FC79-45CD-B33B-3D454C8263C8}"/>
              </a:ext>
            </a:extLst>
          </p:cNvPr>
          <p:cNvSpPr>
            <a:spLocks noGrp="1"/>
          </p:cNvSpPr>
          <p:nvPr/>
        </p:nvSpPr>
        <p:spPr>
          <a:xfrm>
            <a:off x="8020050" y="24384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记录每轮选择造成的即时变化</a:t>
            </a:r>
          </a:p>
        </p:txBody>
      </p:sp>
      <p:sp>
        <p:nvSpPr>
          <p:cNvPr id="15" name="s7-line-0">
            <a:extLst>
              <a:ext uri="{FF2B5EF4-FFF2-40B4-BE49-F238E27FC236}">
                <a16:creationId xmlns:a16="http://schemas.microsoft.com/office/drawing/2014/main" id="{CB017DC3-640A-4E41-B78B-B457F76BF074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6" name="s7-num-1">
            <a:extLst>
              <a:ext uri="{FF2B5EF4-FFF2-40B4-BE49-F238E27FC236}">
                <a16:creationId xmlns:a16="http://schemas.microsoft.com/office/drawing/2014/main" id="{9AA67B17-63B8-425A-A39A-11A228A07184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s7-title-1">
            <a:extLst>
              <a:ext uri="{FF2B5EF4-FFF2-40B4-BE49-F238E27FC236}">
                <a16:creationId xmlns:a16="http://schemas.microsoft.com/office/drawing/2014/main" id="{8AF0CD87-E51F-4BD8-8A61-0AFE0A25661E}"/>
              </a:ext>
            </a:extLst>
          </p:cNvPr>
          <p:cNvSpPr>
            <a:spLocks noGrp="1"/>
          </p:cNvSpPr>
          <p:nvPr/>
        </p:nvSpPr>
        <p:spPr>
          <a:xfrm>
            <a:off x="8020050" y="3028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品质与瑕疵</a:t>
            </a:r>
          </a:p>
        </p:txBody>
      </p:sp>
      <p:sp>
        <p:nvSpPr>
          <p:cNvPr id="18" name="s7-desc-1">
            <a:extLst>
              <a:ext uri="{FF2B5EF4-FFF2-40B4-BE49-F238E27FC236}">
                <a16:creationId xmlns:a16="http://schemas.microsoft.com/office/drawing/2014/main" id="{0047C62F-CA74-4173-98AA-19232A10E82C}"/>
              </a:ext>
            </a:extLst>
          </p:cNvPr>
          <p:cNvSpPr>
            <a:spLocks noGrp="1"/>
          </p:cNvSpPr>
          <p:nvPr/>
        </p:nvSpPr>
        <p:spPr>
          <a:xfrm>
            <a:off x="8020050" y="33909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综合风味潜力、纯净度、活力和标签</a:t>
            </a:r>
          </a:p>
        </p:txBody>
      </p:sp>
      <p:sp>
        <p:nvSpPr>
          <p:cNvPr id="19" name="s7-line-1">
            <a:extLst>
              <a:ext uri="{FF2B5EF4-FFF2-40B4-BE49-F238E27FC236}">
                <a16:creationId xmlns:a16="http://schemas.microsoft.com/office/drawing/2014/main" id="{AFED4703-4C04-49EE-89E4-551CF2AB28A9}"/>
              </a:ext>
            </a:extLst>
          </p:cNvPr>
          <p:cNvSpPr>
            <a:spLocks noGrp="1"/>
          </p:cNvSpPr>
          <p:nvPr/>
        </p:nvSpPr>
        <p:spPr>
          <a:xfrm>
            <a:off x="7334250" y="38100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0" name="s7-num-2">
            <a:extLst>
              <a:ext uri="{FF2B5EF4-FFF2-40B4-BE49-F238E27FC236}">
                <a16:creationId xmlns:a16="http://schemas.microsoft.com/office/drawing/2014/main" id="{D00155C7-99C5-4E93-9C79-98427511C238}"/>
              </a:ext>
            </a:extLst>
          </p:cNvPr>
          <p:cNvSpPr>
            <a:spLocks noGrp="1"/>
          </p:cNvSpPr>
          <p:nvPr/>
        </p:nvSpPr>
        <p:spPr>
          <a:xfrm>
            <a:off x="7334250" y="3981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7-title-2">
            <a:extLst>
              <a:ext uri="{FF2B5EF4-FFF2-40B4-BE49-F238E27FC236}">
                <a16:creationId xmlns:a16="http://schemas.microsoft.com/office/drawing/2014/main" id="{83B8F6D0-253C-4B51-B098-9E14AB74C74A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买家与单价</a:t>
            </a:r>
          </a:p>
        </p:txBody>
      </p:sp>
      <p:sp>
        <p:nvSpPr>
          <p:cNvPr id="22" name="s7-desc-2">
            <a:extLst>
              <a:ext uri="{FF2B5EF4-FFF2-40B4-BE49-F238E27FC236}">
                <a16:creationId xmlns:a16="http://schemas.microsoft.com/office/drawing/2014/main" id="{CC528DA0-EE7E-498C-B637-84C1D2776AB2}"/>
              </a:ext>
            </a:extLst>
          </p:cNvPr>
          <p:cNvSpPr>
            <a:spLocks noGrp="1"/>
          </p:cNvSpPr>
          <p:nvPr/>
        </p:nvSpPr>
        <p:spPr>
          <a:xfrm>
            <a:off x="8020050" y="43434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根据 SCA、处理法和生态认证匹配市场</a:t>
            </a:r>
          </a:p>
        </p:txBody>
      </p:sp>
      <p:sp>
        <p:nvSpPr>
          <p:cNvPr id="23" name="s7-line-2">
            <a:extLst>
              <a:ext uri="{FF2B5EF4-FFF2-40B4-BE49-F238E27FC236}">
                <a16:creationId xmlns:a16="http://schemas.microsoft.com/office/drawing/2014/main" id="{83F9E35C-8F97-462D-B455-0CD2FDAAB0DA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4" name="s7-num-3">
            <a:extLst>
              <a:ext uri="{FF2B5EF4-FFF2-40B4-BE49-F238E27FC236}">
                <a16:creationId xmlns:a16="http://schemas.microsoft.com/office/drawing/2014/main" id="{6F2BFF04-A5CE-4E8F-A3C8-82DB03B299D3}"/>
              </a:ext>
            </a:extLst>
          </p:cNvPr>
          <p:cNvSpPr>
            <a:spLocks noGrp="1"/>
          </p:cNvSpPr>
          <p:nvPr/>
        </p:nvSpPr>
        <p:spPr>
          <a:xfrm>
            <a:off x="7334250" y="49339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s7-title-3">
            <a:extLst>
              <a:ext uri="{FF2B5EF4-FFF2-40B4-BE49-F238E27FC236}">
                <a16:creationId xmlns:a16="http://schemas.microsoft.com/office/drawing/2014/main" id="{9C4D0840-7383-42B0-A11B-792089440D15}"/>
              </a:ext>
            </a:extLst>
          </p:cNvPr>
          <p:cNvSpPr>
            <a:spLocks noGrp="1"/>
          </p:cNvSpPr>
          <p:nvPr/>
        </p:nvSpPr>
        <p:spPr>
          <a:xfrm>
            <a:off x="8020050" y="4933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营收与净利润</a:t>
            </a:r>
          </a:p>
        </p:txBody>
      </p:sp>
      <p:sp>
        <p:nvSpPr>
          <p:cNvPr id="26" name="s7-desc-3">
            <a:extLst>
              <a:ext uri="{FF2B5EF4-FFF2-40B4-BE49-F238E27FC236}">
                <a16:creationId xmlns:a16="http://schemas.microsoft.com/office/drawing/2014/main" id="{6BA11C00-1778-4D94-A0DB-49AF89CB2AEC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扣除成本、折旧与负债后形成最终成绩</a:t>
            </a:r>
          </a:p>
        </p:txBody>
      </p:sp>
      <p:sp>
        <p:nvSpPr>
          <p:cNvPr id="27" name="s7-end">
            <a:extLst>
              <a:ext uri="{FF2B5EF4-FFF2-40B4-BE49-F238E27FC236}">
                <a16:creationId xmlns:a16="http://schemas.microsoft.com/office/drawing/2014/main" id="{52D57715-E448-4C4E-933C-3FB6F7492A6E}"/>
              </a:ext>
            </a:extLst>
          </p:cNvPr>
          <p:cNvSpPr>
            <a:spLocks noGrp="1"/>
          </p:cNvSpPr>
          <p:nvPr/>
        </p:nvSpPr>
        <p:spPr>
          <a:xfrm>
            <a:off x="7334250" y="5905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一局经营，形成一条完整的因果链。</a:t>
            </a:r>
          </a:p>
        </p:txBody>
      </p:sp>
    </p:spTree>
    <p:extLst>
      <p:ext uri="{BB962C8B-B14F-4D97-AF65-F5344CB8AC3E}">
        <p14:creationId xmlns:p14="http://schemas.microsoft.com/office/powerpoint/2010/main" val="46384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9">
            <a:extLst>
              <a:ext uri="{FF2B5EF4-FFF2-40B4-BE49-F238E27FC236}">
                <a16:creationId xmlns:a16="http://schemas.microsoft.com/office/drawing/2014/main" id="{CE9F266B-02C3-4C56-A07D-9ABD8B3284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07 / 可复玩与验证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05CA7BCF-86CE-4EF2-86D5-1CD6FA64F33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榜单把单局结果变成可比较、可复盘的反馈</a:t>
            </a:r>
          </a:p>
        </p:txBody>
      </p:sp>
      <p:sp>
        <p:nvSpPr>
          <p:cNvPr id="3" name="subtitle-9">
            <a:extLst>
              <a:ext uri="{FF2B5EF4-FFF2-40B4-BE49-F238E27FC236}">
                <a16:creationId xmlns:a16="http://schemas.microsoft.com/office/drawing/2014/main" id="{499AC5C6-8227-45AA-8174-2E9FA324847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每位庄园主只保留净利润最高的一局，鼓励玩家重走路线并理解差异。 </a:t>
            </a:r>
          </a:p>
        </p:txBody>
      </p:sp>
      <p:sp>
        <p:nvSpPr>
          <p:cNvPr id="4" name="accent-9">
            <a:extLst>
              <a:ext uri="{FF2B5EF4-FFF2-40B4-BE49-F238E27FC236}">
                <a16:creationId xmlns:a16="http://schemas.microsoft.com/office/drawing/2014/main" id="{69D1C651-0AE0-4A10-A8EE-4988320F951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9">
            <a:extLst>
              <a:ext uri="{FF2B5EF4-FFF2-40B4-BE49-F238E27FC236}">
                <a16:creationId xmlns:a16="http://schemas.microsoft.com/office/drawing/2014/main" id="{50509726-E65C-41DA-A6F7-077F2F84D7B3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9">
            <a:extLst>
              <a:ext uri="{FF2B5EF4-FFF2-40B4-BE49-F238E27FC236}">
                <a16:creationId xmlns:a16="http://schemas.microsoft.com/office/drawing/2014/main" id="{D79A386A-E03A-470D-9184-01781885590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9">
            <a:extLst>
              <a:ext uri="{FF2B5EF4-FFF2-40B4-BE49-F238E27FC236}">
                <a16:creationId xmlns:a16="http://schemas.microsoft.com/office/drawing/2014/main" id="{3331A644-080E-44A8-AD74-CFD7A39DE680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s8-claim">
            <a:extLst>
              <a:ext uri="{FF2B5EF4-FFF2-40B4-BE49-F238E27FC236}">
                <a16:creationId xmlns:a16="http://schemas.microsoft.com/office/drawing/2014/main" id="{A804759F-30C8-45D0-B6D5-7CBD34ABF48E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581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产品已经形成可运行、可验证的闭环</a:t>
            </a:r>
          </a:p>
        </p:txBody>
      </p:sp>
      <p:sp>
        <p:nvSpPr>
          <p:cNvPr id="9" name="s8-point-title-0">
            <a:extLst>
              <a:ext uri="{FF2B5EF4-FFF2-40B4-BE49-F238E27FC236}">
                <a16:creationId xmlns:a16="http://schemas.microsoft.com/office/drawing/2014/main" id="{E3EA29A3-B6A7-4F92-9577-614718FA4DDD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刷新续玩</a:t>
            </a:r>
          </a:p>
        </p:txBody>
      </p:sp>
      <p:sp>
        <p:nvSpPr>
          <p:cNvPr id="10" name="s8-point-desc-0">
            <a:extLst>
              <a:ext uri="{FF2B5EF4-FFF2-40B4-BE49-F238E27FC236}">
                <a16:creationId xmlns:a16="http://schemas.microsoft.com/office/drawing/2014/main" id="{D3EA23CD-89B1-418F-A500-0F2E4409CBBE}"/>
              </a:ext>
            </a:extLst>
          </p:cNvPr>
          <p:cNvSpPr>
            <a:spLocks noGrp="1"/>
          </p:cNvSpPr>
          <p:nvPr/>
        </p:nvSpPr>
        <p:spPr>
          <a:xfrm>
            <a:off x="2247900" y="295275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当前对局、待处理弹窗和选择日志均可恢复</a:t>
            </a:r>
          </a:p>
        </p:txBody>
      </p:sp>
      <p:sp>
        <p:nvSpPr>
          <p:cNvPr id="11" name="s8-sep-0">
            <a:extLst>
              <a:ext uri="{FF2B5EF4-FFF2-40B4-BE49-F238E27FC236}">
                <a16:creationId xmlns:a16="http://schemas.microsoft.com/office/drawing/2014/main" id="{56693151-77A7-4D12-A1C7-F0308A91D045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2" name="s8-point-title-1">
            <a:extLst>
              <a:ext uri="{FF2B5EF4-FFF2-40B4-BE49-F238E27FC236}">
                <a16:creationId xmlns:a16="http://schemas.microsoft.com/office/drawing/2014/main" id="{ED67786B-7A85-4F38-B796-8A1A5AEFBACD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规则回归</a:t>
            </a:r>
          </a:p>
        </p:txBody>
      </p:sp>
      <p:sp>
        <p:nvSpPr>
          <p:cNvPr id="13" name="s8-point-desc-1">
            <a:extLst>
              <a:ext uri="{FF2B5EF4-FFF2-40B4-BE49-F238E27FC236}">
                <a16:creationId xmlns:a16="http://schemas.microsoft.com/office/drawing/2014/main" id="{2AE4279C-594E-400E-9B46-46209D78CBC2}"/>
              </a:ext>
            </a:extLst>
          </p:cNvPr>
          <p:cNvSpPr>
            <a:spLocks noGrp="1"/>
          </p:cNvSpPr>
          <p:nvPr/>
        </p:nvSpPr>
        <p:spPr>
          <a:xfrm>
            <a:off x="2247900" y="369570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核心数值、标签、免疫与结算规则由自动测试覆盖</a:t>
            </a:r>
          </a:p>
        </p:txBody>
      </p:sp>
      <p:sp>
        <p:nvSpPr>
          <p:cNvPr id="14" name="s8-sep-1">
            <a:extLst>
              <a:ext uri="{FF2B5EF4-FFF2-40B4-BE49-F238E27FC236}">
                <a16:creationId xmlns:a16="http://schemas.microsoft.com/office/drawing/2014/main" id="{E6625C0A-D7B5-44AB-ADEA-171D2D3C4042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5" name="s8-point-title-2">
            <a:extLst>
              <a:ext uri="{FF2B5EF4-FFF2-40B4-BE49-F238E27FC236}">
                <a16:creationId xmlns:a16="http://schemas.microsoft.com/office/drawing/2014/main" id="{09D7FC22-4F44-49F2-BF1F-45E7DE768A73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数值模拟</a:t>
            </a:r>
          </a:p>
        </p:txBody>
      </p:sp>
      <p:sp>
        <p:nvSpPr>
          <p:cNvPr id="16" name="s8-point-desc-2">
            <a:extLst>
              <a:ext uri="{FF2B5EF4-FFF2-40B4-BE49-F238E27FC236}">
                <a16:creationId xmlns:a16="http://schemas.microsoft.com/office/drawing/2014/main" id="{0F145BA5-1AE0-42F0-B71F-82A044D6F0AF}"/>
              </a:ext>
            </a:extLst>
          </p:cNvPr>
          <p:cNvSpPr>
            <a:spLocks noGrp="1"/>
          </p:cNvSpPr>
          <p:nvPr/>
        </p:nvSpPr>
        <p:spPr>
          <a:xfrm>
            <a:off x="2247900" y="443865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Monte Carlo 可批量运行 100,000 局观察分布</a:t>
            </a:r>
          </a:p>
        </p:txBody>
      </p:sp>
      <p:sp>
        <p:nvSpPr>
          <p:cNvPr id="17" name="s8-sep-2">
            <a:extLst>
              <a:ext uri="{FF2B5EF4-FFF2-40B4-BE49-F238E27FC236}">
                <a16:creationId xmlns:a16="http://schemas.microsoft.com/office/drawing/2014/main" id="{B0216A26-A8B6-45DA-A8E4-B37D83152D61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8" name="s8-point-title-3">
            <a:extLst>
              <a:ext uri="{FF2B5EF4-FFF2-40B4-BE49-F238E27FC236}">
                <a16:creationId xmlns:a16="http://schemas.microsoft.com/office/drawing/2014/main" id="{B11EDC19-119F-4E01-9DAF-307BC234D37A}"/>
              </a:ext>
            </a:extLst>
          </p:cNvPr>
          <p:cNvSpPr>
            <a:spLocks noGrp="1"/>
          </p:cNvSpPr>
          <p:nvPr/>
        </p:nvSpPr>
        <p:spPr>
          <a:xfrm>
            <a:off x="742950" y="51816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榜单反馈</a:t>
            </a:r>
          </a:p>
        </p:txBody>
      </p:sp>
      <p:sp>
        <p:nvSpPr>
          <p:cNvPr id="19" name="s8-point-desc-3">
            <a:extLst>
              <a:ext uri="{FF2B5EF4-FFF2-40B4-BE49-F238E27FC236}">
                <a16:creationId xmlns:a16="http://schemas.microsoft.com/office/drawing/2014/main" id="{BC435A5D-7A43-43DC-B88B-D0271E4AB3A7}"/>
              </a:ext>
            </a:extLst>
          </p:cNvPr>
          <p:cNvSpPr>
            <a:spLocks noGrp="1"/>
          </p:cNvSpPr>
          <p:nvPr/>
        </p:nvSpPr>
        <p:spPr>
          <a:xfrm>
            <a:off x="2247900" y="518160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本地历史保留个人最佳局，并展示利润与 SCA</a:t>
            </a:r>
          </a:p>
        </p:txBody>
      </p:sp>
      <p:sp>
        <p:nvSpPr>
          <p:cNvPr id="20" name="ranking-shadow">
            <a:extLst>
              <a:ext uri="{FF2B5EF4-FFF2-40B4-BE49-F238E27FC236}">
                <a16:creationId xmlns:a16="http://schemas.microsoft.com/office/drawing/2014/main" id="{77799A10-CADF-48D0-B49A-2303457CCB90}"/>
              </a:ext>
            </a:extLst>
          </p:cNvPr>
          <p:cNvSpPr>
            <a:spLocks noGrp="1"/>
          </p:cNvSpPr>
          <p:nvPr/>
        </p:nvSpPr>
        <p:spPr>
          <a:xfrm>
            <a:off x="7886700" y="1905000"/>
            <a:ext cx="3333750" cy="4476750"/>
          </a:xfrm>
          <a:prstGeom prst="roundRect">
            <a:avLst>
              <a:gd name="adj" fmla="val 5714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91970" y="1809750"/>
            <a:ext cx="2370810" cy="4476750"/>
          </a:xfrm>
          <a:prstGeom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1500326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10625" b="10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inal-paper-overlay">
            <a:extLst>
              <a:ext uri="{FF2B5EF4-FFF2-40B4-BE49-F238E27FC236}">
                <a16:creationId xmlns:a16="http://schemas.microsoft.com/office/drawing/2014/main" id="{7B3D4880-3EA1-4EEC-A97B-9206CCEBE1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4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3" name="s9-kicker">
            <a:extLst>
              <a:ext uri="{FF2B5EF4-FFF2-40B4-BE49-F238E27FC236}">
                <a16:creationId xmlns:a16="http://schemas.microsoft.com/office/drawing/2014/main" id="{8AA3CE48-7CB9-4247-9097-2D580EC375E6}"/>
              </a:ext>
            </a:extLst>
          </p:cNvPr>
          <p:cNvSpPr>
            <a:spLocks noGrp="1"/>
          </p:cNvSpPr>
          <p:nvPr/>
        </p:nvSpPr>
        <p:spPr>
          <a:xfrm>
            <a:off x="742950" y="590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PROJECT SYNTHESIS</a:t>
            </a:r>
          </a:p>
        </p:txBody>
      </p:sp>
      <p:sp>
        <p:nvSpPr>
          <p:cNvPr id="4" name="s9-title">
            <a:extLst>
              <a:ext uri="{FF2B5EF4-FFF2-40B4-BE49-F238E27FC236}">
                <a16:creationId xmlns:a16="http://schemas.microsoft.com/office/drawing/2014/main" id="{870C2984-76D8-4738-8A48-38EA21C0BF4E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914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我们交付的不是两套页面，</a:t>
            </a:r>
          </a:p>
          <a:p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而是一条完整的咖啡认知路径</a:t>
            </a:r>
          </a:p>
        </p:txBody>
      </p:sp>
      <p:sp>
        <p:nvSpPr>
          <p:cNvPr id="5" name="s9-rule">
            <a:extLst>
              <a:ext uri="{FF2B5EF4-FFF2-40B4-BE49-F238E27FC236}">
                <a16:creationId xmlns:a16="http://schemas.microsoft.com/office/drawing/2014/main" id="{81262FBF-CEBA-4B1D-8AFE-692B7078A018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1047750" cy="47625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6" name="s9-verb-0">
            <a:extLst>
              <a:ext uri="{FF2B5EF4-FFF2-40B4-BE49-F238E27FC236}">
                <a16:creationId xmlns:a16="http://schemas.microsoft.com/office/drawing/2014/main" id="{7FFB7825-3F69-42DF-8600-83F37638CA4F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</a:t>
            </a:r>
          </a:p>
        </p:txBody>
      </p:sp>
      <p:sp>
        <p:nvSpPr>
          <p:cNvPr id="7" name="s9-arrow-0">
            <a:extLst>
              <a:ext uri="{FF2B5EF4-FFF2-40B4-BE49-F238E27FC236}">
                <a16:creationId xmlns:a16="http://schemas.microsoft.com/office/drawing/2014/main" id="{BDE78FF4-6852-45CC-9A9F-5FE6AD4D99D8}"/>
              </a:ext>
            </a:extLst>
          </p:cNvPr>
          <p:cNvSpPr>
            <a:spLocks noGrp="1"/>
          </p:cNvSpPr>
          <p:nvPr/>
        </p:nvSpPr>
        <p:spPr>
          <a:xfrm>
            <a:off x="285750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9-verb-1">
            <a:extLst>
              <a:ext uri="{FF2B5EF4-FFF2-40B4-BE49-F238E27FC236}">
                <a16:creationId xmlns:a16="http://schemas.microsoft.com/office/drawing/2014/main" id="{343991A6-0C59-4BA0-A15D-29B59092196C}"/>
              </a:ext>
            </a:extLst>
          </p:cNvPr>
          <p:cNvSpPr>
            <a:spLocks noGrp="1"/>
          </p:cNvSpPr>
          <p:nvPr/>
        </p:nvSpPr>
        <p:spPr>
          <a:xfrm>
            <a:off x="350520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理解产区</a:t>
            </a:r>
          </a:p>
        </p:txBody>
      </p:sp>
      <p:sp>
        <p:nvSpPr>
          <p:cNvPr id="9" name="s9-arrow-1">
            <a:extLst>
              <a:ext uri="{FF2B5EF4-FFF2-40B4-BE49-F238E27FC236}">
                <a16:creationId xmlns:a16="http://schemas.microsoft.com/office/drawing/2014/main" id="{253DA1C6-EB07-47A5-A156-6C48EAC03991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9-verb-2">
            <a:extLst>
              <a:ext uri="{FF2B5EF4-FFF2-40B4-BE49-F238E27FC236}">
                <a16:creationId xmlns:a16="http://schemas.microsoft.com/office/drawing/2014/main" id="{01C14015-F5DC-4EE6-8E04-A5618DA452B3}"/>
              </a:ext>
            </a:extLst>
          </p:cNvPr>
          <p:cNvSpPr>
            <a:spLocks noGrp="1"/>
          </p:cNvSpPr>
          <p:nvPr/>
        </p:nvSpPr>
        <p:spPr>
          <a:xfrm>
            <a:off x="622935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承担决策</a:t>
            </a:r>
          </a:p>
        </p:txBody>
      </p:sp>
      <p:sp>
        <p:nvSpPr>
          <p:cNvPr id="11" name="s9-arrow-2">
            <a:extLst>
              <a:ext uri="{FF2B5EF4-FFF2-40B4-BE49-F238E27FC236}">
                <a16:creationId xmlns:a16="http://schemas.microsoft.com/office/drawing/2014/main" id="{C859B612-ACB9-4B9C-B752-DFF030E8634F}"/>
              </a:ext>
            </a:extLst>
          </p:cNvPr>
          <p:cNvSpPr>
            <a:spLocks noGrp="1"/>
          </p:cNvSpPr>
          <p:nvPr/>
        </p:nvSpPr>
        <p:spPr>
          <a:xfrm>
            <a:off x="830580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s9-verb-3">
            <a:extLst>
              <a:ext uri="{FF2B5EF4-FFF2-40B4-BE49-F238E27FC236}">
                <a16:creationId xmlns:a16="http://schemas.microsoft.com/office/drawing/2014/main" id="{5611F5D1-E138-46BB-96E0-29A33374FAAC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看见结果</a:t>
            </a:r>
          </a:p>
        </p:txBody>
      </p:sp>
      <p:sp>
        <p:nvSpPr>
          <p:cNvPr id="13" name="s9-next-title">
            <a:extLst>
              <a:ext uri="{FF2B5EF4-FFF2-40B4-BE49-F238E27FC236}">
                <a16:creationId xmlns:a16="http://schemas.microsoft.com/office/drawing/2014/main" id="{E521B2CF-B83E-4009-8781-1E8975C425A9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下一步，让两段体验真正连起来</a:t>
            </a:r>
          </a:p>
        </p:txBody>
      </p:sp>
      <p:sp>
        <p:nvSpPr>
          <p:cNvPr id="14" name="s9-next">
            <a:extLst>
              <a:ext uri="{FF2B5EF4-FFF2-40B4-BE49-F238E27FC236}">
                <a16:creationId xmlns:a16="http://schemas.microsoft.com/office/drawing/2014/main" id="{D42CAE05-3DD4-4A0A-AA6E-3F96B032F56D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结果联动庄园首轮路线推荐　·　统一身份与可分享结果报告　·　完成服务端权威复算与公开榜单</a:t>
            </a:r>
          </a:p>
        </p:txBody>
      </p:sp>
      <p:sp>
        <p:nvSpPr>
          <p:cNvPr id="15" name="s9-close">
            <a:extLst>
              <a:ext uri="{FF2B5EF4-FFF2-40B4-BE49-F238E27FC236}">
                <a16:creationId xmlns:a16="http://schemas.microsoft.com/office/drawing/2014/main" id="{7E7F0674-F1A4-4765-BBFE-117E2B46ED6B}"/>
              </a:ext>
            </a:extLst>
          </p:cNvPr>
          <p:cNvSpPr>
            <a:spLocks noGrp="1"/>
          </p:cNvSpPr>
          <p:nvPr/>
        </p:nvSpPr>
        <p:spPr>
          <a:xfrm>
            <a:off x="781050" y="5953125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让每一次喝咖啡，都成为理解风味与土地的开始。</a:t>
            </a:r>
          </a:p>
        </p:txBody>
      </p:sp>
    </p:spTree>
    <p:extLst>
      <p:ext uri="{BB962C8B-B14F-4D97-AF65-F5344CB8AC3E}">
        <p14:creationId xmlns:p14="http://schemas.microsoft.com/office/powerpoint/2010/main" val="16583875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DocSecurity>0</DocSecurity>
  <PresentationFormat>宽屏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长毅 孙</cp:lastModifiedBy>
  <cp:revision>1</cp:revision>
  <dcterms:created xsi:type="dcterms:W3CDTF">2026-08-29T11:44:18Z</dcterms:created>
  <dcterms:modified xsi:type="dcterms:W3CDTF">2026-08-29T12:16:37Z</dcterms:modified>
</cp:coreProperties>
</file>